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1188720"/>
          </a:xfrm>
          <a:prstGeom prst="rect">
            <a:avLst/>
          </a:prstGeom>
          <a:noFill/>
          <a:ln/>
        </p:spPr>
        <p:txBody>
          <a:bodyPr wrap="square" lIns="0" tIns="0" rIns="0" bIns="0" rtlCol="0" anchor="ctr"/>
          <a:lstStyle/>
          <a:p>
            <a:pPr indent="0" marL="0">
              <a:buNone/>
            </a:pPr>
            <a:r>
              <a:rPr lang="en-US" sz="6600" b="1" dirty="0">
                <a:solidFill>
                  <a:srgbClr val="FFFFFF"/>
                </a:solidFill>
                <a:latin typeface="Arial" pitchFamily="34" charset="0"/>
                <a:ea typeface="Arial" pitchFamily="34" charset="-122"/>
                <a:cs typeface="Arial" pitchFamily="34" charset="-120"/>
              </a:rPr>
              <a:t>Shop</a:t>
            </a:r>
            <a:pPr indent="0" marL="0">
              <a:buNone/>
            </a:pPr>
            <a:r>
              <a:rPr lang="en-US" sz="6600" b="1" dirty="0">
                <a:solidFill>
                  <a:srgbClr val="00B3A4"/>
                </a:solidFill>
                <a:latin typeface="Arial" pitchFamily="34" charset="0"/>
                <a:ea typeface="Arial" pitchFamily="34" charset="-122"/>
                <a:cs typeface="Arial" pitchFamily="34" charset="-120"/>
              </a:rPr>
              <a:t>Ease</a:t>
            </a:r>
            <a:endParaRPr lang="en-US" sz="6600" dirty="0"/>
          </a:p>
        </p:txBody>
      </p:sp>
      <p:sp>
        <p:nvSpPr>
          <p:cNvPr id="3" name="Text 1"/>
          <p:cNvSpPr/>
          <p:nvPr/>
        </p:nvSpPr>
        <p:spPr>
          <a:xfrm>
            <a:off x="822960" y="306324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30-Post Social Media Campaign</a:t>
            </a:r>
            <a:endParaRPr lang="en-US" sz="3000" dirty="0"/>
          </a:p>
        </p:txBody>
      </p:sp>
      <p:sp>
        <p:nvSpPr>
          <p:cNvPr id="4" name="Text 2"/>
          <p:cNvSpPr/>
          <p:nvPr/>
        </p:nvSpPr>
        <p:spPr>
          <a:xfrm>
            <a:off x="822960" y="3794760"/>
            <a:ext cx="8778240" cy="822960"/>
          </a:xfrm>
          <a:prstGeom prst="rect">
            <a:avLst/>
          </a:prstGeom>
          <a:noFill/>
          <a:ln/>
        </p:spPr>
        <p:txBody>
          <a:bodyPr wrap="square" lIns="0" tIns="0" rIns="0" bIns="0" rtlCol="0" anchor="ctr"/>
          <a:lstStyle/>
          <a:p>
            <a:pPr indent="0" marL="0">
              <a:buNone/>
            </a:pPr>
            <a:r>
              <a:rPr lang="en-US" sz="1600" dirty="0">
                <a:solidFill>
                  <a:srgbClr val="D8E2F0"/>
                </a:solidFill>
                <a:latin typeface="Calibri" pitchFamily="34" charset="0"/>
                <a:ea typeface="Calibri" pitchFamily="34" charset="-122"/>
                <a:cs typeface="Calibri" pitchFamily="34" charset="-120"/>
              </a:rPr>
              <a:t>Ready-to-publish designs and copy — web development, SEO &amp; content, and Easypaisa / JazzCash payment integration</a:t>
            </a:r>
            <a:endParaRPr lang="en-US" sz="1600" dirty="0"/>
          </a:p>
        </p:txBody>
      </p:sp>
      <p:sp>
        <p:nvSpPr>
          <p:cNvPr id="5" name="Text 3"/>
          <p:cNvSpPr/>
          <p:nvPr/>
        </p:nvSpPr>
        <p:spPr>
          <a:xfrm>
            <a:off x="822960" y="6126480"/>
            <a:ext cx="10515600" cy="365760"/>
          </a:xfrm>
          <a:prstGeom prst="rect">
            <a:avLst/>
          </a:prstGeom>
          <a:noFill/>
          <a:ln/>
        </p:spPr>
        <p:txBody>
          <a:bodyPr wrap="square" lIns="0" tIns="0" rIns="0" bIns="0" rtlCol="0" anchor="ctr"/>
          <a:lstStyle/>
          <a:p>
            <a:pPr indent="0" marL="0">
              <a:buNone/>
            </a:pPr>
            <a:r>
              <a:rPr lang="en-US" sz="1300" dirty="0">
                <a:solidFill>
                  <a:srgbClr val="9FD9D2"/>
                </a:solidFill>
                <a:latin typeface="Calibri" pitchFamily="34" charset="0"/>
                <a:ea typeface="Calibri" pitchFamily="34" charset="-122"/>
                <a:cs typeface="Calibri" pitchFamily="34" charset="-120"/>
              </a:rPr>
              <a:t>shopeasepay.com   ·   fb.com/Shopeasepay   ·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640080"/>
          </a:xfrm>
          <a:prstGeom prst="rect">
            <a:avLst/>
          </a:prstGeom>
          <a:noFill/>
          <a:ln/>
        </p:spPr>
        <p:txBody>
          <a:bodyPr wrap="square" lIns="0" tIns="0" rIns="0" bIns="0" rtlCol="0" anchor="ctr"/>
          <a:lstStyle/>
          <a:p>
            <a:pPr indent="0" marL="0">
              <a:buNone/>
            </a:pPr>
            <a:r>
              <a:rPr lang="en-US" sz="3800" b="1" dirty="0">
                <a:solidFill>
                  <a:srgbClr val="0A1F44"/>
                </a:solidFill>
                <a:latin typeface="Arial" pitchFamily="34" charset="0"/>
                <a:ea typeface="Arial" pitchFamily="34" charset="-122"/>
                <a:cs typeface="Arial" pitchFamily="34" charset="-120"/>
              </a:rPr>
              <a:t>Brand System</a:t>
            </a:r>
            <a:endParaRPr lang="en-US" sz="3800" dirty="0"/>
          </a:p>
        </p:txBody>
      </p:sp>
      <p:sp>
        <p:nvSpPr>
          <p:cNvPr id="3" name="Text 1"/>
          <p:cNvSpPr/>
          <p:nvPr/>
        </p:nvSpPr>
        <p:spPr>
          <a:xfrm>
            <a:off x="594360" y="1051560"/>
            <a:ext cx="10972800" cy="365760"/>
          </a:xfrm>
          <a:prstGeom prst="rect">
            <a:avLst/>
          </a:prstGeom>
          <a:noFill/>
          <a:ln/>
        </p:spPr>
        <p:txBody>
          <a:bodyPr wrap="square" lIns="0" tIns="0" rIns="0" bIns="0" rtlCol="0" anchor="ctr"/>
          <a:lstStyle/>
          <a:p>
            <a:pPr indent="0" marL="0">
              <a:buNone/>
            </a:pPr>
            <a:r>
              <a:rPr lang="en-US" sz="1500" dirty="0">
                <a:solidFill>
                  <a:srgbClr val="5A6B85"/>
                </a:solidFill>
                <a:latin typeface="Calibri" pitchFamily="34" charset="0"/>
                <a:ea typeface="Calibri" pitchFamily="34" charset="-122"/>
                <a:cs typeface="Calibri" pitchFamily="34" charset="-120"/>
              </a:rPr>
              <a:t>One visual language across all 30 posts</a:t>
            </a:r>
            <a:endParaRPr lang="en-US" sz="1500" dirty="0"/>
          </a:p>
        </p:txBody>
      </p:sp>
      <p:sp>
        <p:nvSpPr>
          <p:cNvPr id="4" name="Shape 2"/>
          <p:cNvSpPr/>
          <p:nvPr/>
        </p:nvSpPr>
        <p:spPr>
          <a:xfrm>
            <a:off x="594360" y="1691640"/>
            <a:ext cx="2084832" cy="1234440"/>
          </a:xfrm>
          <a:prstGeom prst="roundRect">
            <a:avLst>
              <a:gd name="adj" fmla="val 5926"/>
            </a:avLst>
          </a:prstGeom>
          <a:solidFill>
            <a:srgbClr val="0A1F44"/>
          </a:solidFill>
          <a:ln w="12700">
            <a:solidFill>
              <a:srgbClr val="E2E7F1"/>
            </a:solidFill>
            <a:prstDash val="solid"/>
          </a:ln>
        </p:spPr>
      </p:sp>
      <p:sp>
        <p:nvSpPr>
          <p:cNvPr id="5" name="Text 3"/>
          <p:cNvSpPr/>
          <p:nvPr/>
        </p:nvSpPr>
        <p:spPr>
          <a:xfrm>
            <a:off x="731520" y="2395728"/>
            <a:ext cx="1828800" cy="36576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Midnight Navy</a:t>
            </a:r>
            <a:endParaRPr lang="en-US" sz="1100" dirty="0"/>
          </a:p>
        </p:txBody>
      </p:sp>
      <p:sp>
        <p:nvSpPr>
          <p:cNvPr id="6" name="Text 4"/>
          <p:cNvSpPr/>
          <p:nvPr/>
        </p:nvSpPr>
        <p:spPr>
          <a:xfrm>
            <a:off x="594360" y="3017520"/>
            <a:ext cx="2084832" cy="274320"/>
          </a:xfrm>
          <a:prstGeom prst="rect">
            <a:avLst/>
          </a:prstGeom>
          <a:noFill/>
          <a:ln/>
        </p:spPr>
        <p:txBody>
          <a:bodyPr wrap="square" lIns="0" tIns="0" rIns="0" bIns="0" rtlCol="0" anchor="ctr"/>
          <a:lstStyle/>
          <a:p>
            <a:pPr indent="0" marL="0">
              <a:buNone/>
            </a:pPr>
            <a:r>
              <a:rPr lang="en-US" sz="1100" b="1" dirty="0">
                <a:solidFill>
                  <a:srgbClr val="0A1F44"/>
                </a:solidFill>
                <a:latin typeface="Calibri" pitchFamily="34" charset="0"/>
                <a:ea typeface="Calibri" pitchFamily="34" charset="-122"/>
                <a:cs typeface="Calibri" pitchFamily="34" charset="-120"/>
              </a:rPr>
              <a:t>#0A1F44</a:t>
            </a:r>
            <a:endParaRPr lang="en-US" sz="1100" dirty="0"/>
          </a:p>
        </p:txBody>
      </p:sp>
      <p:sp>
        <p:nvSpPr>
          <p:cNvPr id="7" name="Text 5"/>
          <p:cNvSpPr/>
          <p:nvPr/>
        </p:nvSpPr>
        <p:spPr>
          <a:xfrm>
            <a:off x="594360" y="3291840"/>
            <a:ext cx="2084832"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Primary background · headlines</a:t>
            </a:r>
            <a:endParaRPr lang="en-US" sz="1000" dirty="0"/>
          </a:p>
        </p:txBody>
      </p:sp>
      <p:sp>
        <p:nvSpPr>
          <p:cNvPr id="8" name="Shape 6"/>
          <p:cNvSpPr/>
          <p:nvPr/>
        </p:nvSpPr>
        <p:spPr>
          <a:xfrm>
            <a:off x="2862072" y="1691640"/>
            <a:ext cx="2084832" cy="1234440"/>
          </a:xfrm>
          <a:prstGeom prst="roundRect">
            <a:avLst>
              <a:gd name="adj" fmla="val 5926"/>
            </a:avLst>
          </a:prstGeom>
          <a:solidFill>
            <a:srgbClr val="00B3A4"/>
          </a:solidFill>
          <a:ln w="12700">
            <a:solidFill>
              <a:srgbClr val="E2E7F1"/>
            </a:solidFill>
            <a:prstDash val="solid"/>
          </a:ln>
        </p:spPr>
      </p:sp>
      <p:sp>
        <p:nvSpPr>
          <p:cNvPr id="9" name="Text 7"/>
          <p:cNvSpPr/>
          <p:nvPr/>
        </p:nvSpPr>
        <p:spPr>
          <a:xfrm>
            <a:off x="2999232" y="2395728"/>
            <a:ext cx="1828800" cy="36576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Growth Teal</a:t>
            </a:r>
            <a:endParaRPr lang="en-US" sz="1100" dirty="0"/>
          </a:p>
        </p:txBody>
      </p:sp>
      <p:sp>
        <p:nvSpPr>
          <p:cNvPr id="10" name="Text 8"/>
          <p:cNvSpPr/>
          <p:nvPr/>
        </p:nvSpPr>
        <p:spPr>
          <a:xfrm>
            <a:off x="2862072" y="3017520"/>
            <a:ext cx="2084832" cy="274320"/>
          </a:xfrm>
          <a:prstGeom prst="rect">
            <a:avLst/>
          </a:prstGeom>
          <a:noFill/>
          <a:ln/>
        </p:spPr>
        <p:txBody>
          <a:bodyPr wrap="square" lIns="0" tIns="0" rIns="0" bIns="0" rtlCol="0" anchor="ctr"/>
          <a:lstStyle/>
          <a:p>
            <a:pPr indent="0" marL="0">
              <a:buNone/>
            </a:pPr>
            <a:r>
              <a:rPr lang="en-US" sz="1100" b="1" dirty="0">
                <a:solidFill>
                  <a:srgbClr val="0A1F44"/>
                </a:solidFill>
                <a:latin typeface="Calibri" pitchFamily="34" charset="0"/>
                <a:ea typeface="Calibri" pitchFamily="34" charset="-122"/>
                <a:cs typeface="Calibri" pitchFamily="34" charset="-120"/>
              </a:rPr>
              <a:t>#00B3A4</a:t>
            </a:r>
            <a:endParaRPr lang="en-US" sz="1100" dirty="0"/>
          </a:p>
        </p:txBody>
      </p:sp>
      <p:sp>
        <p:nvSpPr>
          <p:cNvPr id="11" name="Text 9"/>
          <p:cNvSpPr/>
          <p:nvPr/>
        </p:nvSpPr>
        <p:spPr>
          <a:xfrm>
            <a:off x="2862072" y="3291840"/>
            <a:ext cx="2084832"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Brand accent · icons · wordmark</a:t>
            </a:r>
            <a:endParaRPr lang="en-US" sz="1000" dirty="0"/>
          </a:p>
        </p:txBody>
      </p:sp>
      <p:sp>
        <p:nvSpPr>
          <p:cNvPr id="12" name="Shape 10"/>
          <p:cNvSpPr/>
          <p:nvPr/>
        </p:nvSpPr>
        <p:spPr>
          <a:xfrm>
            <a:off x="5129784" y="1691640"/>
            <a:ext cx="2084832" cy="1234440"/>
          </a:xfrm>
          <a:prstGeom prst="roundRect">
            <a:avLst>
              <a:gd name="adj" fmla="val 5926"/>
            </a:avLst>
          </a:prstGeom>
          <a:solidFill>
            <a:srgbClr val="FFB100"/>
          </a:solidFill>
          <a:ln w="12700">
            <a:solidFill>
              <a:srgbClr val="E2E7F1"/>
            </a:solidFill>
            <a:prstDash val="solid"/>
          </a:ln>
        </p:spPr>
      </p:sp>
      <p:sp>
        <p:nvSpPr>
          <p:cNvPr id="13" name="Text 11"/>
          <p:cNvSpPr/>
          <p:nvPr/>
        </p:nvSpPr>
        <p:spPr>
          <a:xfrm>
            <a:off x="5266944" y="2395728"/>
            <a:ext cx="1828800" cy="365760"/>
          </a:xfrm>
          <a:prstGeom prst="rect">
            <a:avLst/>
          </a:prstGeom>
          <a:noFill/>
          <a:ln/>
        </p:spPr>
        <p:txBody>
          <a:bodyPr wrap="square" lIns="0" tIns="0" rIns="0" bIns="0" rtlCol="0" anchor="ctr"/>
          <a:lstStyle/>
          <a:p>
            <a:pPr indent="0" marL="0">
              <a:buNone/>
            </a:pPr>
            <a:r>
              <a:rPr lang="en-US" sz="1100" b="1" dirty="0">
                <a:solidFill>
                  <a:srgbClr val="0A1F44"/>
                </a:solidFill>
                <a:latin typeface="Arial" pitchFamily="34" charset="0"/>
                <a:ea typeface="Arial" pitchFamily="34" charset="-122"/>
                <a:cs typeface="Arial" pitchFamily="34" charset="-120"/>
              </a:rPr>
              <a:t>Signal Amber</a:t>
            </a:r>
            <a:endParaRPr lang="en-US" sz="1100" dirty="0"/>
          </a:p>
        </p:txBody>
      </p:sp>
      <p:sp>
        <p:nvSpPr>
          <p:cNvPr id="14" name="Text 12"/>
          <p:cNvSpPr/>
          <p:nvPr/>
        </p:nvSpPr>
        <p:spPr>
          <a:xfrm>
            <a:off x="5129784" y="3017520"/>
            <a:ext cx="2084832" cy="274320"/>
          </a:xfrm>
          <a:prstGeom prst="rect">
            <a:avLst/>
          </a:prstGeom>
          <a:noFill/>
          <a:ln/>
        </p:spPr>
        <p:txBody>
          <a:bodyPr wrap="square" lIns="0" tIns="0" rIns="0" bIns="0" rtlCol="0" anchor="ctr"/>
          <a:lstStyle/>
          <a:p>
            <a:pPr indent="0" marL="0">
              <a:buNone/>
            </a:pPr>
            <a:r>
              <a:rPr lang="en-US" sz="1100" b="1" dirty="0">
                <a:solidFill>
                  <a:srgbClr val="0A1F44"/>
                </a:solidFill>
                <a:latin typeface="Calibri" pitchFamily="34" charset="0"/>
                <a:ea typeface="Calibri" pitchFamily="34" charset="-122"/>
                <a:cs typeface="Calibri" pitchFamily="34" charset="-120"/>
              </a:rPr>
              <a:t>#FFB100</a:t>
            </a:r>
            <a:endParaRPr lang="en-US" sz="1100" dirty="0"/>
          </a:p>
        </p:txBody>
      </p:sp>
      <p:sp>
        <p:nvSpPr>
          <p:cNvPr id="15" name="Text 13"/>
          <p:cNvSpPr/>
          <p:nvPr/>
        </p:nvSpPr>
        <p:spPr>
          <a:xfrm>
            <a:off x="5129784" y="3291840"/>
            <a:ext cx="2084832"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CTA buttons · stat callouts</a:t>
            </a:r>
            <a:endParaRPr lang="en-US" sz="1000" dirty="0"/>
          </a:p>
        </p:txBody>
      </p:sp>
      <p:sp>
        <p:nvSpPr>
          <p:cNvPr id="16" name="Shape 14"/>
          <p:cNvSpPr/>
          <p:nvPr/>
        </p:nvSpPr>
        <p:spPr>
          <a:xfrm>
            <a:off x="7397496" y="1691640"/>
            <a:ext cx="2084832" cy="1234440"/>
          </a:xfrm>
          <a:prstGeom prst="roundRect">
            <a:avLst>
              <a:gd name="adj" fmla="val 5926"/>
            </a:avLst>
          </a:prstGeom>
          <a:solidFill>
            <a:srgbClr val="F4F6FA"/>
          </a:solidFill>
          <a:ln w="12700">
            <a:solidFill>
              <a:srgbClr val="E2E7F1"/>
            </a:solidFill>
            <a:prstDash val="solid"/>
          </a:ln>
        </p:spPr>
      </p:sp>
      <p:sp>
        <p:nvSpPr>
          <p:cNvPr id="17" name="Text 15"/>
          <p:cNvSpPr/>
          <p:nvPr/>
        </p:nvSpPr>
        <p:spPr>
          <a:xfrm>
            <a:off x="7534656" y="2395728"/>
            <a:ext cx="1828800" cy="365760"/>
          </a:xfrm>
          <a:prstGeom prst="rect">
            <a:avLst/>
          </a:prstGeom>
          <a:noFill/>
          <a:ln/>
        </p:spPr>
        <p:txBody>
          <a:bodyPr wrap="square" lIns="0" tIns="0" rIns="0" bIns="0" rtlCol="0" anchor="ctr"/>
          <a:lstStyle/>
          <a:p>
            <a:pPr indent="0" marL="0">
              <a:buNone/>
            </a:pPr>
            <a:r>
              <a:rPr lang="en-US" sz="1100" b="1" dirty="0">
                <a:solidFill>
                  <a:srgbClr val="0A1F44"/>
                </a:solidFill>
                <a:latin typeface="Arial" pitchFamily="34" charset="0"/>
                <a:ea typeface="Arial" pitchFamily="34" charset="-122"/>
                <a:cs typeface="Arial" pitchFamily="34" charset="-120"/>
              </a:rPr>
              <a:t>Mist Gray</a:t>
            </a:r>
            <a:endParaRPr lang="en-US" sz="1100" dirty="0"/>
          </a:p>
        </p:txBody>
      </p:sp>
      <p:sp>
        <p:nvSpPr>
          <p:cNvPr id="18" name="Text 16"/>
          <p:cNvSpPr/>
          <p:nvPr/>
        </p:nvSpPr>
        <p:spPr>
          <a:xfrm>
            <a:off x="7397496" y="3017520"/>
            <a:ext cx="2084832" cy="274320"/>
          </a:xfrm>
          <a:prstGeom prst="rect">
            <a:avLst/>
          </a:prstGeom>
          <a:noFill/>
          <a:ln/>
        </p:spPr>
        <p:txBody>
          <a:bodyPr wrap="square" lIns="0" tIns="0" rIns="0" bIns="0" rtlCol="0" anchor="ctr"/>
          <a:lstStyle/>
          <a:p>
            <a:pPr indent="0" marL="0">
              <a:buNone/>
            </a:pPr>
            <a:r>
              <a:rPr lang="en-US" sz="1100" b="1" dirty="0">
                <a:solidFill>
                  <a:srgbClr val="0A1F44"/>
                </a:solidFill>
                <a:latin typeface="Calibri" pitchFamily="34" charset="0"/>
                <a:ea typeface="Calibri" pitchFamily="34" charset="-122"/>
                <a:cs typeface="Calibri" pitchFamily="34" charset="-120"/>
              </a:rPr>
              <a:t>#F4F6FA</a:t>
            </a:r>
            <a:endParaRPr lang="en-US" sz="1100" dirty="0"/>
          </a:p>
        </p:txBody>
      </p:sp>
      <p:sp>
        <p:nvSpPr>
          <p:cNvPr id="19" name="Text 17"/>
          <p:cNvSpPr/>
          <p:nvPr/>
        </p:nvSpPr>
        <p:spPr>
          <a:xfrm>
            <a:off x="7397496" y="3291840"/>
            <a:ext cx="2084832"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Light backgrounds · cards</a:t>
            </a:r>
            <a:endParaRPr lang="en-US" sz="1000" dirty="0"/>
          </a:p>
        </p:txBody>
      </p:sp>
      <p:sp>
        <p:nvSpPr>
          <p:cNvPr id="20" name="Shape 18"/>
          <p:cNvSpPr/>
          <p:nvPr/>
        </p:nvSpPr>
        <p:spPr>
          <a:xfrm>
            <a:off x="9665208" y="1691640"/>
            <a:ext cx="2084832" cy="1234440"/>
          </a:xfrm>
          <a:prstGeom prst="roundRect">
            <a:avLst>
              <a:gd name="adj" fmla="val 5926"/>
            </a:avLst>
          </a:prstGeom>
          <a:solidFill>
            <a:srgbClr val="5A6B85"/>
          </a:solidFill>
          <a:ln w="12700">
            <a:solidFill>
              <a:srgbClr val="E2E7F1"/>
            </a:solidFill>
            <a:prstDash val="solid"/>
          </a:ln>
        </p:spPr>
      </p:sp>
      <p:sp>
        <p:nvSpPr>
          <p:cNvPr id="21" name="Text 19"/>
          <p:cNvSpPr/>
          <p:nvPr/>
        </p:nvSpPr>
        <p:spPr>
          <a:xfrm>
            <a:off x="9802368" y="2395728"/>
            <a:ext cx="1828800" cy="36576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Slate</a:t>
            </a:r>
            <a:endParaRPr lang="en-US" sz="1100" dirty="0"/>
          </a:p>
        </p:txBody>
      </p:sp>
      <p:sp>
        <p:nvSpPr>
          <p:cNvPr id="22" name="Text 20"/>
          <p:cNvSpPr/>
          <p:nvPr/>
        </p:nvSpPr>
        <p:spPr>
          <a:xfrm>
            <a:off x="9665208" y="3017520"/>
            <a:ext cx="2084832" cy="274320"/>
          </a:xfrm>
          <a:prstGeom prst="rect">
            <a:avLst/>
          </a:prstGeom>
          <a:noFill/>
          <a:ln/>
        </p:spPr>
        <p:txBody>
          <a:bodyPr wrap="square" lIns="0" tIns="0" rIns="0" bIns="0" rtlCol="0" anchor="ctr"/>
          <a:lstStyle/>
          <a:p>
            <a:pPr indent="0" marL="0">
              <a:buNone/>
            </a:pPr>
            <a:r>
              <a:rPr lang="en-US" sz="1100" b="1" dirty="0">
                <a:solidFill>
                  <a:srgbClr val="0A1F44"/>
                </a:solidFill>
                <a:latin typeface="Calibri" pitchFamily="34" charset="0"/>
                <a:ea typeface="Calibri" pitchFamily="34" charset="-122"/>
                <a:cs typeface="Calibri" pitchFamily="34" charset="-120"/>
              </a:rPr>
              <a:t>#5A6B85</a:t>
            </a:r>
            <a:endParaRPr lang="en-US" sz="1100" dirty="0"/>
          </a:p>
        </p:txBody>
      </p:sp>
      <p:sp>
        <p:nvSpPr>
          <p:cNvPr id="23" name="Text 21"/>
          <p:cNvSpPr/>
          <p:nvPr/>
        </p:nvSpPr>
        <p:spPr>
          <a:xfrm>
            <a:off x="9665208" y="3291840"/>
            <a:ext cx="2084832" cy="502920"/>
          </a:xfrm>
          <a:prstGeom prst="rect">
            <a:avLst/>
          </a:prstGeom>
          <a:noFill/>
          <a:ln/>
        </p:spPr>
        <p:txBody>
          <a:bodyPr wrap="square" lIns="0" tIns="0" rIns="0" bIns="0" rtlCol="0" anchor="ctr"/>
          <a:lstStyle/>
          <a:p>
            <a:pPr indent="0" marL="0">
              <a:buNone/>
            </a:pPr>
            <a:r>
              <a:rPr lang="en-US" sz="1000" dirty="0">
                <a:solidFill>
                  <a:srgbClr val="5A6B85"/>
                </a:solidFill>
                <a:latin typeface="Calibri" pitchFamily="34" charset="0"/>
                <a:ea typeface="Calibri" pitchFamily="34" charset="-122"/>
                <a:cs typeface="Calibri" pitchFamily="34" charset="-120"/>
              </a:rPr>
              <a:t>Secondary text on light</a:t>
            </a:r>
            <a:endParaRPr lang="en-US" sz="1000" dirty="0"/>
          </a:p>
        </p:txBody>
      </p:sp>
      <p:sp>
        <p:nvSpPr>
          <p:cNvPr id="24" name="Text 22"/>
          <p:cNvSpPr/>
          <p:nvPr/>
        </p:nvSpPr>
        <p:spPr>
          <a:xfrm>
            <a:off x="594360" y="4160520"/>
            <a:ext cx="5120640" cy="365760"/>
          </a:xfrm>
          <a:prstGeom prst="rect">
            <a:avLst/>
          </a:prstGeom>
          <a:noFill/>
          <a:ln/>
        </p:spPr>
        <p:txBody>
          <a:bodyPr wrap="square" lIns="0" tIns="0" rIns="0" bIns="0" rtlCol="0" anchor="ctr"/>
          <a:lstStyle/>
          <a:p>
            <a:pPr indent="0" marL="0">
              <a:buNone/>
            </a:pPr>
            <a:r>
              <a:rPr lang="en-US" sz="1700" b="1" dirty="0">
                <a:solidFill>
                  <a:srgbClr val="03897E"/>
                </a:solidFill>
                <a:latin typeface="Arial" pitchFamily="34" charset="0"/>
                <a:ea typeface="Arial" pitchFamily="34" charset="-122"/>
                <a:cs typeface="Arial" pitchFamily="34" charset="-120"/>
              </a:rPr>
              <a:t>Typography</a:t>
            </a:r>
            <a:endParaRPr lang="en-US" sz="1700" dirty="0"/>
          </a:p>
        </p:txBody>
      </p:sp>
      <p:sp>
        <p:nvSpPr>
          <p:cNvPr id="25" name="Text 23"/>
          <p:cNvSpPr/>
          <p:nvPr/>
        </p:nvSpPr>
        <p:spPr>
          <a:xfrm>
            <a:off x="594360" y="4572000"/>
            <a:ext cx="5394960" cy="1737360"/>
          </a:xfrm>
          <a:prstGeom prst="rect">
            <a:avLst/>
          </a:prstGeom>
          <a:noFill/>
          <a:ln/>
        </p:spPr>
        <p:txBody>
          <a:bodyPr wrap="square" lIns="0" tIns="0" rIns="0" bIns="0" rtlCol="0" anchor="ctr"/>
          <a:lstStyle/>
          <a:p>
            <a:pPr indent="0" marL="0">
              <a:lnSpc>
                <a:spcPct val="125000"/>
              </a:lnSpc>
              <a:buNone/>
            </a:pPr>
            <a:r>
              <a:rPr lang="en-US" sz="1250" b="1" dirty="0">
                <a:solidFill>
                  <a:srgbClr val="0A1F44"/>
                </a:solidFill>
                <a:latin typeface="Calibri" pitchFamily="34" charset="0"/>
                <a:ea typeface="Calibri" pitchFamily="34" charset="-122"/>
                <a:cs typeface="Calibri" pitchFamily="34" charset="-120"/>
              </a:rPr>
              <a:t>Poppins</a:t>
            </a:r>
            <a:pPr indent="0" marL="0">
              <a:lnSpc>
                <a:spcPct val="125000"/>
              </a:lnSpc>
              <a:buNone/>
            </a:pPr>
            <a:r>
              <a:rPr lang="en-US" sz="1250" dirty="0">
                <a:solidFill>
                  <a:srgbClr val="5A6B85"/>
                </a:solidFill>
                <a:latin typeface="Calibri" pitchFamily="34" charset="0"/>
                <a:ea typeface="Calibri" pitchFamily="34" charset="-122"/>
                <a:cs typeface="Calibri" pitchFamily="34" charset="-120"/>
              </a:rPr>
              <a:t> — headlines &amp; display (SemiBold / Bold, tight leading)
</a:t>
            </a:r>
            <a:pPr indent="0" marL="0">
              <a:lnSpc>
                <a:spcPct val="125000"/>
              </a:lnSpc>
              <a:buNone/>
            </a:pPr>
            <a:r>
              <a:rPr lang="en-US" sz="1250" b="1" dirty="0">
                <a:solidFill>
                  <a:srgbClr val="0A1F44"/>
                </a:solidFill>
                <a:latin typeface="Calibri" pitchFamily="34" charset="0"/>
                <a:ea typeface="Calibri" pitchFamily="34" charset="-122"/>
                <a:cs typeface="Calibri" pitchFamily="34" charset="-120"/>
              </a:rPr>
              <a:t>Inter</a:t>
            </a:r>
            <a:pPr indent="0" marL="0">
              <a:lnSpc>
                <a:spcPct val="125000"/>
              </a:lnSpc>
              <a:buNone/>
            </a:pPr>
            <a:r>
              <a:rPr lang="en-US" sz="1250" dirty="0">
                <a:solidFill>
                  <a:srgbClr val="5A6B85"/>
                </a:solidFill>
                <a:latin typeface="Calibri" pitchFamily="34" charset="0"/>
                <a:ea typeface="Calibri" pitchFamily="34" charset="-122"/>
                <a:cs typeface="Calibri" pitchFamily="34" charset="-120"/>
              </a:rPr>
              <a:t> — body, labels &amp; captions
</a:t>
            </a:r>
            <a:pPr indent="0" marL="0">
              <a:lnSpc>
                <a:spcPct val="125000"/>
              </a:lnSpc>
              <a:buNone/>
            </a:pPr>
            <a:r>
              <a:rPr lang="en-US" sz="1250" b="1" dirty="0">
                <a:solidFill>
                  <a:srgbClr val="0A1F44"/>
                </a:solidFill>
                <a:latin typeface="Calibri" pitchFamily="34" charset="0"/>
                <a:ea typeface="Calibri" pitchFamily="34" charset="-122"/>
                <a:cs typeface="Calibri" pitchFamily="34" charset="-120"/>
              </a:rPr>
              <a:t>Noto Nastaliq Urdu</a:t>
            </a:r>
            <a:pPr indent="0" marL="0">
              <a:lnSpc>
                <a:spcPct val="125000"/>
              </a:lnSpc>
              <a:buNone/>
            </a:pPr>
            <a:r>
              <a:rPr lang="en-US" sz="1250" dirty="0">
                <a:solidFill>
                  <a:srgbClr val="5A6B85"/>
                </a:solidFill>
                <a:latin typeface="Calibri" pitchFamily="34" charset="0"/>
                <a:ea typeface="Calibri" pitchFamily="34" charset="-122"/>
                <a:cs typeface="Calibri" pitchFamily="34" charset="-120"/>
              </a:rPr>
              <a:t> — optional Urdu accents on Facebook
</a:t>
            </a:r>
            <a:pPr indent="0" marL="0">
              <a:lnSpc>
                <a:spcPct val="125000"/>
              </a:lnSpc>
              <a:buNone/>
            </a:pPr>
            <a:r>
              <a:rPr lang="en-US" sz="1050" i="1" dirty="0">
                <a:solidFill>
                  <a:srgbClr val="5A6B85"/>
                </a:solidFill>
                <a:latin typeface="Calibri" pitchFamily="34" charset="0"/>
                <a:ea typeface="Calibri" pitchFamily="34" charset="-122"/>
                <a:cs typeface="Calibri" pitchFamily="34" charset="-120"/>
              </a:rPr>
              <a:t>(This deck previews with Arial/Calibri; production artwork uses the faces above.)</a:t>
            </a:r>
            <a:endParaRPr lang="en-US" sz="1250" dirty="0"/>
          </a:p>
        </p:txBody>
      </p:sp>
      <p:sp>
        <p:nvSpPr>
          <p:cNvPr id="26" name="Text 24"/>
          <p:cNvSpPr/>
          <p:nvPr/>
        </p:nvSpPr>
        <p:spPr>
          <a:xfrm>
            <a:off x="6400800" y="4160520"/>
            <a:ext cx="5120640" cy="365760"/>
          </a:xfrm>
          <a:prstGeom prst="rect">
            <a:avLst/>
          </a:prstGeom>
          <a:noFill/>
          <a:ln/>
        </p:spPr>
        <p:txBody>
          <a:bodyPr wrap="square" lIns="0" tIns="0" rIns="0" bIns="0" rtlCol="0" anchor="ctr"/>
          <a:lstStyle/>
          <a:p>
            <a:pPr indent="0" marL="0">
              <a:buNone/>
            </a:pPr>
            <a:r>
              <a:rPr lang="en-US" sz="1700" b="1" dirty="0">
                <a:solidFill>
                  <a:srgbClr val="03897E"/>
                </a:solidFill>
                <a:latin typeface="Arial" pitchFamily="34" charset="0"/>
                <a:ea typeface="Arial" pitchFamily="34" charset="-122"/>
                <a:cs typeface="Arial" pitchFamily="34" charset="-120"/>
              </a:rPr>
              <a:t>Voice</a:t>
            </a:r>
            <a:endParaRPr lang="en-US" sz="1700" dirty="0"/>
          </a:p>
        </p:txBody>
      </p:sp>
      <p:sp>
        <p:nvSpPr>
          <p:cNvPr id="27" name="Text 25"/>
          <p:cNvSpPr/>
          <p:nvPr/>
        </p:nvSpPr>
        <p:spPr>
          <a:xfrm>
            <a:off x="6400800" y="4572000"/>
            <a:ext cx="5212080" cy="17373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5A6B85"/>
                </a:solidFill>
                <a:latin typeface="Calibri" pitchFamily="34" charset="0"/>
                <a:ea typeface="Calibri" pitchFamily="34" charset="-122"/>
                <a:cs typeface="Calibri" pitchFamily="34" charset="-120"/>
              </a:rPr>
              <a:t>Lead with the reader's business outcome, never the tool.</a:t>
            </a:r>
            <a:endParaRPr lang="en-US" sz="1250" dirty="0"/>
          </a:p>
          <a:p>
            <a:pPr marL="342900" indent="-342900">
              <a:spcAft>
                <a:spcPts val="600"/>
              </a:spcAft>
              <a:buSzPct val="100000"/>
              <a:buChar char="•"/>
            </a:pPr>
            <a:r>
              <a:rPr lang="en-US" sz="1250" dirty="0">
                <a:solidFill>
                  <a:srgbClr val="5A6B85"/>
                </a:solidFill>
                <a:latin typeface="Calibri" pitchFamily="34" charset="0"/>
                <a:ea typeface="Calibri" pitchFamily="34" charset="-122"/>
                <a:cs typeface="Calibri" pitchFamily="34" charset="-120"/>
              </a:rPr>
              <a:t>Confident and warm — zero hype words.</a:t>
            </a:r>
            <a:endParaRPr lang="en-US" sz="1250" dirty="0"/>
          </a:p>
          <a:p>
            <a:pPr marL="342900" indent="-342900">
              <a:spcAft>
                <a:spcPts val="600"/>
              </a:spcAft>
              <a:buSzPct val="100000"/>
              <a:buChar char="•"/>
            </a:pPr>
            <a:r>
              <a:rPr lang="en-US" sz="1250" dirty="0">
                <a:solidFill>
                  <a:srgbClr val="5A6B85"/>
                </a:solidFill>
                <a:latin typeface="Calibri" pitchFamily="34" charset="0"/>
                <a:ea typeface="Calibri" pitchFamily="34" charset="-122"/>
                <a:cs typeface="Calibri" pitchFamily="34" charset="-120"/>
              </a:rPr>
              <a:t>Partnership language: “we build with you.”</a:t>
            </a:r>
            <a:endParaRPr lang="en-US" sz="1250" dirty="0"/>
          </a:p>
          <a:p>
            <a:pPr marL="342900" indent="-342900">
              <a:spcAft>
                <a:spcPts val="600"/>
              </a:spcAft>
              <a:buSzPct val="100000"/>
              <a:buChar char="•"/>
            </a:pPr>
            <a:r>
              <a:rPr lang="en-US" sz="1250" dirty="0">
                <a:solidFill>
                  <a:srgbClr val="5A6B85"/>
                </a:solidFill>
                <a:latin typeface="Calibri" pitchFamily="34" charset="0"/>
                <a:ea typeface="Calibri" pitchFamily="34" charset="-122"/>
                <a:cs typeface="Calibri" pitchFamily="34" charset="-120"/>
              </a:rPr>
              <a:t>One CTA per caption; 4–8 Pakistan-market hashtags.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640080"/>
          </a:xfrm>
          <a:prstGeom prst="rect">
            <a:avLst/>
          </a:prstGeom>
          <a:noFill/>
          <a:ln/>
        </p:spPr>
        <p:txBody>
          <a:bodyPr wrap="square" lIns="0" tIns="0" rIns="0" bIns="0" rtlCol="0" anchor="ctr"/>
          <a:lstStyle/>
          <a:p>
            <a:pPr indent="0" marL="0">
              <a:buNone/>
            </a:pPr>
            <a:r>
              <a:rPr lang="en-US" sz="3800" b="1" dirty="0">
                <a:solidFill>
                  <a:srgbClr val="0A1F44"/>
                </a:solidFill>
                <a:latin typeface="Arial" pitchFamily="34" charset="0"/>
                <a:ea typeface="Arial" pitchFamily="34" charset="-122"/>
                <a:cs typeface="Arial" pitchFamily="34" charset="-120"/>
              </a:rPr>
              <a:t>Eight Layout Templates</a:t>
            </a:r>
            <a:endParaRPr lang="en-US" sz="3800" dirty="0"/>
          </a:p>
        </p:txBody>
      </p:sp>
      <p:sp>
        <p:nvSpPr>
          <p:cNvPr id="3" name="Text 1"/>
          <p:cNvSpPr/>
          <p:nvPr/>
        </p:nvSpPr>
        <p:spPr>
          <a:xfrm>
            <a:off x="594360" y="1051560"/>
            <a:ext cx="10972800" cy="365760"/>
          </a:xfrm>
          <a:prstGeom prst="rect">
            <a:avLst/>
          </a:prstGeom>
          <a:noFill/>
          <a:ln/>
        </p:spPr>
        <p:txBody>
          <a:bodyPr wrap="square" lIns="0" tIns="0" rIns="0" bIns="0" rtlCol="0" anchor="ctr"/>
          <a:lstStyle/>
          <a:p>
            <a:pPr indent="0" marL="0">
              <a:buNone/>
            </a:pPr>
            <a:r>
              <a:rPr lang="en-US" sz="1500" dirty="0">
                <a:solidFill>
                  <a:srgbClr val="5A6B85"/>
                </a:solidFill>
                <a:latin typeface="Calibri" pitchFamily="34" charset="0"/>
                <a:ea typeface="Calibri" pitchFamily="34" charset="-122"/>
                <a:cs typeface="Calibri" pitchFamily="34" charset="-120"/>
              </a:rPr>
              <a:t>Every post uses one archetype — build each once in Canva or Figma, then reuse</a:t>
            </a:r>
            <a:endParaRPr lang="en-US" sz="1500" dirty="0"/>
          </a:p>
        </p:txBody>
      </p:sp>
      <p:sp>
        <p:nvSpPr>
          <p:cNvPr id="4" name="Shape 2"/>
          <p:cNvSpPr/>
          <p:nvPr/>
        </p:nvSpPr>
        <p:spPr>
          <a:xfrm>
            <a:off x="594360" y="1691640"/>
            <a:ext cx="5349240" cy="987552"/>
          </a:xfrm>
          <a:prstGeom prst="roundRect">
            <a:avLst>
              <a:gd name="adj" fmla="val 6481"/>
            </a:avLst>
          </a:prstGeom>
          <a:solidFill>
            <a:srgbClr val="F4F6FA"/>
          </a:solidFill>
          <a:ln/>
        </p:spPr>
      </p:sp>
      <p:sp>
        <p:nvSpPr>
          <p:cNvPr id="5" name="Shape 3"/>
          <p:cNvSpPr/>
          <p:nvPr/>
        </p:nvSpPr>
        <p:spPr>
          <a:xfrm>
            <a:off x="795528" y="1947672"/>
            <a:ext cx="475488" cy="475488"/>
          </a:xfrm>
          <a:prstGeom prst="ellipse">
            <a:avLst/>
          </a:prstGeom>
          <a:solidFill>
            <a:srgbClr val="00B3A4"/>
          </a:solidFill>
          <a:ln/>
        </p:spPr>
      </p:sp>
      <p:sp>
        <p:nvSpPr>
          <p:cNvPr id="6" name="Text 4"/>
          <p:cNvSpPr/>
          <p:nvPr/>
        </p:nvSpPr>
        <p:spPr>
          <a:xfrm>
            <a:off x="795528" y="19476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7" name="Text 5"/>
          <p:cNvSpPr/>
          <p:nvPr/>
        </p:nvSpPr>
        <p:spPr>
          <a:xfrm>
            <a:off x="1463040" y="1837944"/>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Bold Statement</a:t>
            </a:r>
            <a:endParaRPr lang="en-US" sz="1450" dirty="0"/>
          </a:p>
        </p:txBody>
      </p:sp>
      <p:sp>
        <p:nvSpPr>
          <p:cNvPr id="8" name="Text 6"/>
          <p:cNvSpPr/>
          <p:nvPr/>
        </p:nvSpPr>
        <p:spPr>
          <a:xfrm>
            <a:off x="1463040" y="2167128"/>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Full-bleed gradient, oversized headline, amber CTA chip</a:t>
            </a:r>
            <a:endParaRPr lang="en-US" sz="1100" dirty="0"/>
          </a:p>
        </p:txBody>
      </p:sp>
      <p:sp>
        <p:nvSpPr>
          <p:cNvPr id="9" name="Shape 7"/>
          <p:cNvSpPr/>
          <p:nvPr/>
        </p:nvSpPr>
        <p:spPr>
          <a:xfrm>
            <a:off x="6309360" y="1691640"/>
            <a:ext cx="5349240" cy="987552"/>
          </a:xfrm>
          <a:prstGeom prst="roundRect">
            <a:avLst>
              <a:gd name="adj" fmla="val 6481"/>
            </a:avLst>
          </a:prstGeom>
          <a:solidFill>
            <a:srgbClr val="F4F6FA"/>
          </a:solidFill>
          <a:ln/>
        </p:spPr>
      </p:sp>
      <p:sp>
        <p:nvSpPr>
          <p:cNvPr id="10" name="Shape 8"/>
          <p:cNvSpPr/>
          <p:nvPr/>
        </p:nvSpPr>
        <p:spPr>
          <a:xfrm>
            <a:off x="6510528" y="1947672"/>
            <a:ext cx="475488" cy="475488"/>
          </a:xfrm>
          <a:prstGeom prst="ellipse">
            <a:avLst/>
          </a:prstGeom>
          <a:solidFill>
            <a:srgbClr val="00B3A4"/>
          </a:solidFill>
          <a:ln/>
        </p:spPr>
      </p:sp>
      <p:sp>
        <p:nvSpPr>
          <p:cNvPr id="11" name="Text 9"/>
          <p:cNvSpPr/>
          <p:nvPr/>
        </p:nvSpPr>
        <p:spPr>
          <a:xfrm>
            <a:off x="6510528" y="19476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t>
            </a:r>
            <a:endParaRPr lang="en-US" sz="1600" dirty="0"/>
          </a:p>
        </p:txBody>
      </p:sp>
      <p:sp>
        <p:nvSpPr>
          <p:cNvPr id="12" name="Text 10"/>
          <p:cNvSpPr/>
          <p:nvPr/>
        </p:nvSpPr>
        <p:spPr>
          <a:xfrm>
            <a:off x="7178040" y="1837944"/>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Stat Spotlight</a:t>
            </a:r>
            <a:endParaRPr lang="en-US" sz="1450" dirty="0"/>
          </a:p>
        </p:txBody>
      </p:sp>
      <p:sp>
        <p:nvSpPr>
          <p:cNvPr id="13" name="Text 11"/>
          <p:cNvSpPr/>
          <p:nvPr/>
        </p:nvSpPr>
        <p:spPr>
          <a:xfrm>
            <a:off x="7178040" y="2167128"/>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One huge number in teal or amber; claim beneath</a:t>
            </a:r>
            <a:endParaRPr lang="en-US" sz="1100" dirty="0"/>
          </a:p>
        </p:txBody>
      </p:sp>
      <p:sp>
        <p:nvSpPr>
          <p:cNvPr id="14" name="Shape 12"/>
          <p:cNvSpPr/>
          <p:nvPr/>
        </p:nvSpPr>
        <p:spPr>
          <a:xfrm>
            <a:off x="594360" y="2862072"/>
            <a:ext cx="5349240" cy="987552"/>
          </a:xfrm>
          <a:prstGeom prst="roundRect">
            <a:avLst>
              <a:gd name="adj" fmla="val 6481"/>
            </a:avLst>
          </a:prstGeom>
          <a:solidFill>
            <a:srgbClr val="F4F6FA"/>
          </a:solidFill>
          <a:ln/>
        </p:spPr>
      </p:sp>
      <p:sp>
        <p:nvSpPr>
          <p:cNvPr id="15" name="Shape 13"/>
          <p:cNvSpPr/>
          <p:nvPr/>
        </p:nvSpPr>
        <p:spPr>
          <a:xfrm>
            <a:off x="795528" y="3118104"/>
            <a:ext cx="475488" cy="475488"/>
          </a:xfrm>
          <a:prstGeom prst="ellipse">
            <a:avLst/>
          </a:prstGeom>
          <a:solidFill>
            <a:srgbClr val="00B3A4"/>
          </a:solidFill>
          <a:ln/>
        </p:spPr>
      </p:sp>
      <p:sp>
        <p:nvSpPr>
          <p:cNvPr id="16" name="Text 14"/>
          <p:cNvSpPr/>
          <p:nvPr/>
        </p:nvSpPr>
        <p:spPr>
          <a:xfrm>
            <a:off x="795528" y="311810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17" name="Text 15"/>
          <p:cNvSpPr/>
          <p:nvPr/>
        </p:nvSpPr>
        <p:spPr>
          <a:xfrm>
            <a:off x="1463040" y="3008376"/>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Carousel</a:t>
            </a:r>
            <a:endParaRPr lang="en-US" sz="1450" dirty="0"/>
          </a:p>
        </p:txBody>
      </p:sp>
      <p:sp>
        <p:nvSpPr>
          <p:cNvPr id="18" name="Text 16"/>
          <p:cNvSpPr/>
          <p:nvPr/>
        </p:nvSpPr>
        <p:spPr>
          <a:xfrm>
            <a:off x="1463040" y="3337560"/>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Gradient cover, numbered slides, CTA slide to close</a:t>
            </a:r>
            <a:endParaRPr lang="en-US" sz="1100" dirty="0"/>
          </a:p>
        </p:txBody>
      </p:sp>
      <p:sp>
        <p:nvSpPr>
          <p:cNvPr id="19" name="Shape 17"/>
          <p:cNvSpPr/>
          <p:nvPr/>
        </p:nvSpPr>
        <p:spPr>
          <a:xfrm>
            <a:off x="6309360" y="2862072"/>
            <a:ext cx="5349240" cy="987552"/>
          </a:xfrm>
          <a:prstGeom prst="roundRect">
            <a:avLst>
              <a:gd name="adj" fmla="val 6481"/>
            </a:avLst>
          </a:prstGeom>
          <a:solidFill>
            <a:srgbClr val="F4F6FA"/>
          </a:solidFill>
          <a:ln/>
        </p:spPr>
      </p:sp>
      <p:sp>
        <p:nvSpPr>
          <p:cNvPr id="20" name="Shape 18"/>
          <p:cNvSpPr/>
          <p:nvPr/>
        </p:nvSpPr>
        <p:spPr>
          <a:xfrm>
            <a:off x="6510528" y="3118104"/>
            <a:ext cx="475488" cy="475488"/>
          </a:xfrm>
          <a:prstGeom prst="ellipse">
            <a:avLst/>
          </a:prstGeom>
          <a:solidFill>
            <a:srgbClr val="00B3A4"/>
          </a:solidFill>
          <a:ln/>
        </p:spPr>
      </p:sp>
      <p:sp>
        <p:nvSpPr>
          <p:cNvPr id="21" name="Text 19"/>
          <p:cNvSpPr/>
          <p:nvPr/>
        </p:nvSpPr>
        <p:spPr>
          <a:xfrm>
            <a:off x="6510528" y="311810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a:t>
            </a:r>
            <a:endParaRPr lang="en-US" sz="1600" dirty="0"/>
          </a:p>
        </p:txBody>
      </p:sp>
      <p:sp>
        <p:nvSpPr>
          <p:cNvPr id="22" name="Text 20"/>
          <p:cNvSpPr/>
          <p:nvPr/>
        </p:nvSpPr>
        <p:spPr>
          <a:xfrm>
            <a:off x="7178040" y="3008376"/>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Testimonial Card</a:t>
            </a:r>
            <a:endParaRPr lang="en-US" sz="1450" dirty="0"/>
          </a:p>
        </p:txBody>
      </p:sp>
      <p:sp>
        <p:nvSpPr>
          <p:cNvPr id="23" name="Text 21"/>
          <p:cNvSpPr/>
          <p:nvPr/>
        </p:nvSpPr>
        <p:spPr>
          <a:xfrm>
            <a:off x="7178040" y="3337560"/>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Giant quote mark, amber stars, client row</a:t>
            </a:r>
            <a:endParaRPr lang="en-US" sz="1100" dirty="0"/>
          </a:p>
        </p:txBody>
      </p:sp>
      <p:sp>
        <p:nvSpPr>
          <p:cNvPr id="24" name="Shape 22"/>
          <p:cNvSpPr/>
          <p:nvPr/>
        </p:nvSpPr>
        <p:spPr>
          <a:xfrm>
            <a:off x="594360" y="4032504"/>
            <a:ext cx="5349240" cy="987552"/>
          </a:xfrm>
          <a:prstGeom prst="roundRect">
            <a:avLst>
              <a:gd name="adj" fmla="val 6481"/>
            </a:avLst>
          </a:prstGeom>
          <a:solidFill>
            <a:srgbClr val="F4F6FA"/>
          </a:solidFill>
          <a:ln/>
        </p:spPr>
      </p:sp>
      <p:sp>
        <p:nvSpPr>
          <p:cNvPr id="25" name="Shape 23"/>
          <p:cNvSpPr/>
          <p:nvPr/>
        </p:nvSpPr>
        <p:spPr>
          <a:xfrm>
            <a:off x="795528" y="4288536"/>
            <a:ext cx="475488" cy="475488"/>
          </a:xfrm>
          <a:prstGeom prst="ellipse">
            <a:avLst/>
          </a:prstGeom>
          <a:solidFill>
            <a:srgbClr val="00B3A4"/>
          </a:solidFill>
          <a:ln/>
        </p:spPr>
      </p:sp>
      <p:sp>
        <p:nvSpPr>
          <p:cNvPr id="26" name="Text 24"/>
          <p:cNvSpPr/>
          <p:nvPr/>
        </p:nvSpPr>
        <p:spPr>
          <a:xfrm>
            <a:off x="795528" y="428853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a:t>
            </a:r>
            <a:endParaRPr lang="en-US" sz="1600" dirty="0"/>
          </a:p>
        </p:txBody>
      </p:sp>
      <p:sp>
        <p:nvSpPr>
          <p:cNvPr id="27" name="Text 25"/>
          <p:cNvSpPr/>
          <p:nvPr/>
        </p:nvSpPr>
        <p:spPr>
          <a:xfrm>
            <a:off x="1463040" y="4178808"/>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Checklist</a:t>
            </a:r>
            <a:endParaRPr lang="en-US" sz="1450" dirty="0"/>
          </a:p>
        </p:txBody>
      </p:sp>
      <p:sp>
        <p:nvSpPr>
          <p:cNvPr id="28" name="Text 26"/>
          <p:cNvSpPr/>
          <p:nvPr/>
        </p:nvSpPr>
        <p:spPr>
          <a:xfrm>
            <a:off x="1463040" y="4507992"/>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Teal check-circles; amber bar on the key row</a:t>
            </a:r>
            <a:endParaRPr lang="en-US" sz="1100" dirty="0"/>
          </a:p>
        </p:txBody>
      </p:sp>
      <p:sp>
        <p:nvSpPr>
          <p:cNvPr id="29" name="Shape 27"/>
          <p:cNvSpPr/>
          <p:nvPr/>
        </p:nvSpPr>
        <p:spPr>
          <a:xfrm>
            <a:off x="6309360" y="4032504"/>
            <a:ext cx="5349240" cy="987552"/>
          </a:xfrm>
          <a:prstGeom prst="roundRect">
            <a:avLst>
              <a:gd name="adj" fmla="val 6481"/>
            </a:avLst>
          </a:prstGeom>
          <a:solidFill>
            <a:srgbClr val="F4F6FA"/>
          </a:solidFill>
          <a:ln/>
        </p:spPr>
      </p:sp>
      <p:sp>
        <p:nvSpPr>
          <p:cNvPr id="30" name="Shape 28"/>
          <p:cNvSpPr/>
          <p:nvPr/>
        </p:nvSpPr>
        <p:spPr>
          <a:xfrm>
            <a:off x="6510528" y="4288536"/>
            <a:ext cx="475488" cy="475488"/>
          </a:xfrm>
          <a:prstGeom prst="ellipse">
            <a:avLst/>
          </a:prstGeom>
          <a:solidFill>
            <a:srgbClr val="00B3A4"/>
          </a:solidFill>
          <a:ln/>
        </p:spPr>
      </p:sp>
      <p:sp>
        <p:nvSpPr>
          <p:cNvPr id="31" name="Text 29"/>
          <p:cNvSpPr/>
          <p:nvPr/>
        </p:nvSpPr>
        <p:spPr>
          <a:xfrm>
            <a:off x="6510528" y="428853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F</a:t>
            </a:r>
            <a:endParaRPr lang="en-US" sz="1600" dirty="0"/>
          </a:p>
        </p:txBody>
      </p:sp>
      <p:sp>
        <p:nvSpPr>
          <p:cNvPr id="32" name="Text 30"/>
          <p:cNvSpPr/>
          <p:nvPr/>
        </p:nvSpPr>
        <p:spPr>
          <a:xfrm>
            <a:off x="7178040" y="4178808"/>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Split Panel</a:t>
            </a:r>
            <a:endParaRPr lang="en-US" sz="1450" dirty="0"/>
          </a:p>
        </p:txBody>
      </p:sp>
      <p:sp>
        <p:nvSpPr>
          <p:cNvPr id="33" name="Text 31"/>
          <p:cNvSpPr/>
          <p:nvPr/>
        </p:nvSpPr>
        <p:spPr>
          <a:xfrm>
            <a:off x="7178040" y="4507992"/>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Myth vs. fact / before vs. after, ✕ and ✓ panels</a:t>
            </a:r>
            <a:endParaRPr lang="en-US" sz="1100" dirty="0"/>
          </a:p>
        </p:txBody>
      </p:sp>
      <p:sp>
        <p:nvSpPr>
          <p:cNvPr id="34" name="Shape 32"/>
          <p:cNvSpPr/>
          <p:nvPr/>
        </p:nvSpPr>
        <p:spPr>
          <a:xfrm>
            <a:off x="594360" y="5202936"/>
            <a:ext cx="5349240" cy="987552"/>
          </a:xfrm>
          <a:prstGeom prst="roundRect">
            <a:avLst>
              <a:gd name="adj" fmla="val 6481"/>
            </a:avLst>
          </a:prstGeom>
          <a:solidFill>
            <a:srgbClr val="F4F6FA"/>
          </a:solidFill>
          <a:ln/>
        </p:spPr>
      </p:sp>
      <p:sp>
        <p:nvSpPr>
          <p:cNvPr id="35" name="Shape 33"/>
          <p:cNvSpPr/>
          <p:nvPr/>
        </p:nvSpPr>
        <p:spPr>
          <a:xfrm>
            <a:off x="795528" y="5458968"/>
            <a:ext cx="475488" cy="475488"/>
          </a:xfrm>
          <a:prstGeom prst="ellipse">
            <a:avLst/>
          </a:prstGeom>
          <a:solidFill>
            <a:srgbClr val="00B3A4"/>
          </a:solidFill>
          <a:ln/>
        </p:spPr>
      </p:sp>
      <p:sp>
        <p:nvSpPr>
          <p:cNvPr id="36" name="Text 34"/>
          <p:cNvSpPr/>
          <p:nvPr/>
        </p:nvSpPr>
        <p:spPr>
          <a:xfrm>
            <a:off x="795528" y="54589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a:t>
            </a:r>
            <a:endParaRPr lang="en-US" sz="1600" dirty="0"/>
          </a:p>
        </p:txBody>
      </p:sp>
      <p:sp>
        <p:nvSpPr>
          <p:cNvPr id="37" name="Text 35"/>
          <p:cNvSpPr/>
          <p:nvPr/>
        </p:nvSpPr>
        <p:spPr>
          <a:xfrm>
            <a:off x="1463040" y="5349240"/>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Device Mockup</a:t>
            </a:r>
            <a:endParaRPr lang="en-US" sz="1450" dirty="0"/>
          </a:p>
        </p:txBody>
      </p:sp>
      <p:sp>
        <p:nvSpPr>
          <p:cNvPr id="38" name="Text 36"/>
          <p:cNvSpPr/>
          <p:nvPr/>
        </p:nvSpPr>
        <p:spPr>
          <a:xfrm>
            <a:off x="1463040" y="5678424"/>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Laptop or phone frame with annotated UI</a:t>
            </a:r>
            <a:endParaRPr lang="en-US" sz="1100" dirty="0"/>
          </a:p>
        </p:txBody>
      </p:sp>
      <p:sp>
        <p:nvSpPr>
          <p:cNvPr id="39" name="Shape 37"/>
          <p:cNvSpPr/>
          <p:nvPr/>
        </p:nvSpPr>
        <p:spPr>
          <a:xfrm>
            <a:off x="6309360" y="5202936"/>
            <a:ext cx="5349240" cy="987552"/>
          </a:xfrm>
          <a:prstGeom prst="roundRect">
            <a:avLst>
              <a:gd name="adj" fmla="val 6481"/>
            </a:avLst>
          </a:prstGeom>
          <a:solidFill>
            <a:srgbClr val="F4F6FA"/>
          </a:solidFill>
          <a:ln/>
        </p:spPr>
      </p:sp>
      <p:sp>
        <p:nvSpPr>
          <p:cNvPr id="40" name="Shape 38"/>
          <p:cNvSpPr/>
          <p:nvPr/>
        </p:nvSpPr>
        <p:spPr>
          <a:xfrm>
            <a:off x="6510528" y="5458968"/>
            <a:ext cx="475488" cy="475488"/>
          </a:xfrm>
          <a:prstGeom prst="ellipse">
            <a:avLst/>
          </a:prstGeom>
          <a:solidFill>
            <a:srgbClr val="00B3A4"/>
          </a:solidFill>
          <a:ln/>
        </p:spPr>
      </p:sp>
      <p:sp>
        <p:nvSpPr>
          <p:cNvPr id="41" name="Text 39"/>
          <p:cNvSpPr/>
          <p:nvPr/>
        </p:nvSpPr>
        <p:spPr>
          <a:xfrm>
            <a:off x="6510528" y="545896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H</a:t>
            </a:r>
            <a:endParaRPr lang="en-US" sz="1600" dirty="0"/>
          </a:p>
        </p:txBody>
      </p:sp>
      <p:sp>
        <p:nvSpPr>
          <p:cNvPr id="42" name="Text 40"/>
          <p:cNvSpPr/>
          <p:nvPr/>
        </p:nvSpPr>
        <p:spPr>
          <a:xfrm>
            <a:off x="7178040" y="5349240"/>
            <a:ext cx="4343400" cy="320040"/>
          </a:xfrm>
          <a:prstGeom prst="rect">
            <a:avLst/>
          </a:prstGeom>
          <a:noFill/>
          <a:ln/>
        </p:spPr>
        <p:txBody>
          <a:bodyPr wrap="square" lIns="0" tIns="0" rIns="0" bIns="0" rtlCol="0" anchor="ctr"/>
          <a:lstStyle/>
          <a:p>
            <a:pPr indent="0" marL="0">
              <a:buNone/>
            </a:pPr>
            <a:r>
              <a:rPr lang="en-US" sz="1450" b="1" dirty="0">
                <a:solidFill>
                  <a:srgbClr val="0A1F44"/>
                </a:solidFill>
                <a:latin typeface="Arial" pitchFamily="34" charset="0"/>
                <a:ea typeface="Arial" pitchFamily="34" charset="-122"/>
                <a:cs typeface="Arial" pitchFamily="34" charset="-120"/>
              </a:rPr>
              <a:t>CTA Banner</a:t>
            </a:r>
            <a:endParaRPr lang="en-US" sz="1450" dirty="0"/>
          </a:p>
        </p:txBody>
      </p:sp>
      <p:sp>
        <p:nvSpPr>
          <p:cNvPr id="43" name="Text 41"/>
          <p:cNvSpPr/>
          <p:nvPr/>
        </p:nvSpPr>
        <p:spPr>
          <a:xfrm>
            <a:off x="7178040" y="5678424"/>
            <a:ext cx="4343400" cy="411480"/>
          </a:xfrm>
          <a:prstGeom prst="rect">
            <a:avLst/>
          </a:prstGeom>
          <a:noFill/>
          <a:ln/>
        </p:spPr>
        <p:txBody>
          <a:bodyPr wrap="square" lIns="0" tIns="0" rIns="0" bIns="0" rtlCol="0" anchor="ctr"/>
          <a:lstStyle/>
          <a:p>
            <a:pPr indent="0" marL="0">
              <a:buNone/>
            </a:pPr>
            <a:r>
              <a:rPr lang="en-US" sz="1100" dirty="0">
                <a:solidFill>
                  <a:srgbClr val="5A6B85"/>
                </a:solidFill>
                <a:latin typeface="Calibri" pitchFamily="34" charset="0"/>
                <a:ea typeface="Calibri" pitchFamily="34" charset="-122"/>
                <a:cs typeface="Calibri" pitchFamily="34" charset="-120"/>
              </a:rPr>
              <a:t>Navy ground, benefit checks, large amber button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11480"/>
            <a:ext cx="10972800" cy="640080"/>
          </a:xfrm>
          <a:prstGeom prst="rect">
            <a:avLst/>
          </a:prstGeom>
          <a:noFill/>
          <a:ln/>
        </p:spPr>
        <p:txBody>
          <a:bodyPr wrap="square" lIns="0" tIns="0" rIns="0" bIns="0" rtlCol="0" anchor="ctr"/>
          <a:lstStyle/>
          <a:p>
            <a:pPr indent="0" marL="0">
              <a:buNone/>
            </a:pPr>
            <a:r>
              <a:rPr lang="en-US" sz="3800" b="1" dirty="0">
                <a:solidFill>
                  <a:srgbClr val="0A1F44"/>
                </a:solidFill>
                <a:latin typeface="Arial" pitchFamily="34" charset="0"/>
                <a:ea typeface="Arial" pitchFamily="34" charset="-122"/>
                <a:cs typeface="Arial" pitchFamily="34" charset="-120"/>
              </a:rPr>
              <a:t>10-Week Posting Calendar</a:t>
            </a:r>
            <a:endParaRPr lang="en-US" sz="3800" dirty="0"/>
          </a:p>
        </p:txBody>
      </p:sp>
      <p:sp>
        <p:nvSpPr>
          <p:cNvPr id="3" name="Text 1"/>
          <p:cNvSpPr/>
          <p:nvPr/>
        </p:nvSpPr>
        <p:spPr>
          <a:xfrm>
            <a:off x="594360" y="1051560"/>
            <a:ext cx="10972800" cy="365760"/>
          </a:xfrm>
          <a:prstGeom prst="rect">
            <a:avLst/>
          </a:prstGeom>
          <a:noFill/>
          <a:ln/>
        </p:spPr>
        <p:txBody>
          <a:bodyPr wrap="square" lIns="0" tIns="0" rIns="0" bIns="0" rtlCol="0" anchor="ctr"/>
          <a:lstStyle/>
          <a:p>
            <a:pPr indent="0" marL="0">
              <a:buNone/>
            </a:pPr>
            <a:r>
              <a:rPr lang="en-US" sz="1500" dirty="0">
                <a:solidFill>
                  <a:srgbClr val="5A6B85"/>
                </a:solidFill>
                <a:latin typeface="Calibri" pitchFamily="34" charset="0"/>
                <a:ea typeface="Calibri" pitchFamily="34" charset="-122"/>
                <a:cs typeface="Calibri" pitchFamily="34" charset="-120"/>
              </a:rPr>
              <a:t>Three posts per week, rotating pillars — never all-sales, never all-education</a:t>
            </a:r>
            <a:endParaRPr lang="en-US" sz="1500" dirty="0"/>
          </a:p>
        </p:txBody>
      </p:sp>
      <p:sp>
        <p:nvSpPr>
          <p:cNvPr id="4" name="Shape 2"/>
          <p:cNvSpPr/>
          <p:nvPr/>
        </p:nvSpPr>
        <p:spPr>
          <a:xfrm>
            <a:off x="594360" y="1691640"/>
            <a:ext cx="1920240" cy="566928"/>
          </a:xfrm>
          <a:prstGeom prst="roundRect">
            <a:avLst>
              <a:gd name="adj" fmla="val 14516"/>
            </a:avLst>
          </a:prstGeom>
          <a:solidFill>
            <a:srgbClr val="0A1F44"/>
          </a:solidFill>
          <a:ln/>
        </p:spPr>
      </p:sp>
      <p:sp>
        <p:nvSpPr>
          <p:cNvPr id="5" name="Text 3"/>
          <p:cNvSpPr/>
          <p:nvPr/>
        </p:nvSpPr>
        <p:spPr>
          <a:xfrm>
            <a:off x="594360" y="1691640"/>
            <a:ext cx="19202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Weeks 1–2</a:t>
            </a:r>
            <a:endParaRPr lang="en-US" sz="1300" dirty="0"/>
          </a:p>
        </p:txBody>
      </p:sp>
      <p:sp>
        <p:nvSpPr>
          <p:cNvPr id="6" name="Text 4"/>
          <p:cNvSpPr/>
          <p:nvPr/>
        </p:nvSpPr>
        <p:spPr>
          <a:xfrm>
            <a:off x="2788920" y="1709928"/>
            <a:ext cx="4206240" cy="548640"/>
          </a:xfrm>
          <a:prstGeom prst="rect">
            <a:avLst/>
          </a:prstGeom>
          <a:noFill/>
          <a:ln/>
        </p:spPr>
        <p:txBody>
          <a:bodyPr wrap="square" lIns="0" tIns="0" rIns="0" bIns="0" rtlCol="0" anchor="ctr"/>
          <a:lstStyle/>
          <a:p>
            <a:pPr indent="0" marL="0">
              <a:buNone/>
            </a:pPr>
            <a:r>
              <a:rPr lang="en-US" sz="1300" b="1" dirty="0">
                <a:solidFill>
                  <a:srgbClr val="03897E"/>
                </a:solidFill>
                <a:latin typeface="Calibri" pitchFamily="34" charset="0"/>
                <a:ea typeface="Calibri" pitchFamily="34" charset="-122"/>
                <a:cs typeface="Calibri" pitchFamily="34" charset="-120"/>
              </a:rPr>
              <a:t>Posts 1 · 7 · 13  +  2 · 8 · 25</a:t>
            </a:r>
            <a:endParaRPr lang="en-US" sz="1300" dirty="0"/>
          </a:p>
        </p:txBody>
      </p:sp>
      <p:sp>
        <p:nvSpPr>
          <p:cNvPr id="7" name="Text 5"/>
          <p:cNvSpPr/>
          <p:nvPr/>
        </p:nvSpPr>
        <p:spPr>
          <a:xfrm>
            <a:off x="7223760" y="1709928"/>
            <a:ext cx="4389120" cy="548640"/>
          </a:xfrm>
          <a:prstGeom prst="rect">
            <a:avLst/>
          </a:prstGeom>
          <a:noFill/>
          <a:ln/>
        </p:spPr>
        <p:txBody>
          <a:bodyPr wrap="square" lIns="0" tIns="0" rIns="0" bIns="0" rtlCol="0" anchor="ctr"/>
          <a:lstStyle/>
          <a:p>
            <a:pPr indent="0" marL="0">
              <a:buNone/>
            </a:pPr>
            <a:r>
              <a:rPr lang="en-US" sz="1250" dirty="0">
                <a:solidFill>
                  <a:srgbClr val="5A6B85"/>
                </a:solidFill>
                <a:latin typeface="Calibri" pitchFamily="34" charset="0"/>
                <a:ea typeface="Calibri" pitchFamily="34" charset="-122"/>
                <a:cs typeface="Calibri" pitchFamily="34" charset="-120"/>
              </a:rPr>
              <a:t>Anchor statements, first carousels, first CTA</a:t>
            </a:r>
            <a:endParaRPr lang="en-US" sz="1250" dirty="0"/>
          </a:p>
        </p:txBody>
      </p:sp>
      <p:sp>
        <p:nvSpPr>
          <p:cNvPr id="8" name="Shape 6"/>
          <p:cNvSpPr/>
          <p:nvPr/>
        </p:nvSpPr>
        <p:spPr>
          <a:xfrm>
            <a:off x="594360" y="2478024"/>
            <a:ext cx="1920240" cy="566928"/>
          </a:xfrm>
          <a:prstGeom prst="roundRect">
            <a:avLst>
              <a:gd name="adj" fmla="val 14516"/>
            </a:avLst>
          </a:prstGeom>
          <a:solidFill>
            <a:srgbClr val="0A1F44"/>
          </a:solidFill>
          <a:ln/>
        </p:spPr>
      </p:sp>
      <p:sp>
        <p:nvSpPr>
          <p:cNvPr id="9" name="Text 7"/>
          <p:cNvSpPr/>
          <p:nvPr/>
        </p:nvSpPr>
        <p:spPr>
          <a:xfrm>
            <a:off x="594360" y="2478024"/>
            <a:ext cx="19202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Weeks 3–4</a:t>
            </a:r>
            <a:endParaRPr lang="en-US" sz="1300" dirty="0"/>
          </a:p>
        </p:txBody>
      </p:sp>
      <p:sp>
        <p:nvSpPr>
          <p:cNvPr id="10" name="Text 8"/>
          <p:cNvSpPr/>
          <p:nvPr/>
        </p:nvSpPr>
        <p:spPr>
          <a:xfrm>
            <a:off x="2788920" y="2496312"/>
            <a:ext cx="4206240" cy="548640"/>
          </a:xfrm>
          <a:prstGeom prst="rect">
            <a:avLst/>
          </a:prstGeom>
          <a:noFill/>
          <a:ln/>
        </p:spPr>
        <p:txBody>
          <a:bodyPr wrap="square" lIns="0" tIns="0" rIns="0" bIns="0" rtlCol="0" anchor="ctr"/>
          <a:lstStyle/>
          <a:p>
            <a:pPr indent="0" marL="0">
              <a:buNone/>
            </a:pPr>
            <a:r>
              <a:rPr lang="en-US" sz="1300" b="1" dirty="0">
                <a:solidFill>
                  <a:srgbClr val="03897E"/>
                </a:solidFill>
                <a:latin typeface="Calibri" pitchFamily="34" charset="0"/>
                <a:ea typeface="Calibri" pitchFamily="34" charset="-122"/>
                <a:cs typeface="Calibri" pitchFamily="34" charset="-120"/>
              </a:rPr>
              <a:t>Posts 3 · 9 · 14  +  4 · 10 · 26</a:t>
            </a:r>
            <a:endParaRPr lang="en-US" sz="1300" dirty="0"/>
          </a:p>
        </p:txBody>
      </p:sp>
      <p:sp>
        <p:nvSpPr>
          <p:cNvPr id="11" name="Text 9"/>
          <p:cNvSpPr/>
          <p:nvPr/>
        </p:nvSpPr>
        <p:spPr>
          <a:xfrm>
            <a:off x="7223760" y="2496312"/>
            <a:ext cx="4389120" cy="548640"/>
          </a:xfrm>
          <a:prstGeom prst="rect">
            <a:avLst/>
          </a:prstGeom>
          <a:noFill/>
          <a:ln/>
        </p:spPr>
        <p:txBody>
          <a:bodyPr wrap="square" lIns="0" tIns="0" rIns="0" bIns="0" rtlCol="0" anchor="ctr"/>
          <a:lstStyle/>
          <a:p>
            <a:pPr indent="0" marL="0">
              <a:buNone/>
            </a:pPr>
            <a:r>
              <a:rPr lang="en-US" sz="1250" dirty="0">
                <a:solidFill>
                  <a:srgbClr val="5A6B85"/>
                </a:solidFill>
                <a:latin typeface="Calibri" pitchFamily="34" charset="0"/>
                <a:ea typeface="Calibri" pitchFamily="34" charset="-122"/>
                <a:cs typeface="Calibri" pitchFamily="34" charset="-120"/>
              </a:rPr>
              <a:t>Stats, checklists, and the free-audit offer</a:t>
            </a:r>
            <a:endParaRPr lang="en-US" sz="1250" dirty="0"/>
          </a:p>
        </p:txBody>
      </p:sp>
      <p:sp>
        <p:nvSpPr>
          <p:cNvPr id="12" name="Shape 10"/>
          <p:cNvSpPr/>
          <p:nvPr/>
        </p:nvSpPr>
        <p:spPr>
          <a:xfrm>
            <a:off x="594360" y="3264408"/>
            <a:ext cx="1920240" cy="566928"/>
          </a:xfrm>
          <a:prstGeom prst="roundRect">
            <a:avLst>
              <a:gd name="adj" fmla="val 14516"/>
            </a:avLst>
          </a:prstGeom>
          <a:solidFill>
            <a:srgbClr val="0A1F44"/>
          </a:solidFill>
          <a:ln/>
        </p:spPr>
      </p:sp>
      <p:sp>
        <p:nvSpPr>
          <p:cNvPr id="13" name="Text 11"/>
          <p:cNvSpPr/>
          <p:nvPr/>
        </p:nvSpPr>
        <p:spPr>
          <a:xfrm>
            <a:off x="594360" y="3264408"/>
            <a:ext cx="19202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Weeks 5–6</a:t>
            </a:r>
            <a:endParaRPr lang="en-US" sz="1300" dirty="0"/>
          </a:p>
        </p:txBody>
      </p:sp>
      <p:sp>
        <p:nvSpPr>
          <p:cNvPr id="14" name="Text 12"/>
          <p:cNvSpPr/>
          <p:nvPr/>
        </p:nvSpPr>
        <p:spPr>
          <a:xfrm>
            <a:off x="2788920" y="3282696"/>
            <a:ext cx="4206240" cy="548640"/>
          </a:xfrm>
          <a:prstGeom prst="rect">
            <a:avLst/>
          </a:prstGeom>
          <a:noFill/>
          <a:ln/>
        </p:spPr>
        <p:txBody>
          <a:bodyPr wrap="square" lIns="0" tIns="0" rIns="0" bIns="0" rtlCol="0" anchor="ctr"/>
          <a:lstStyle/>
          <a:p>
            <a:pPr indent="0" marL="0">
              <a:buNone/>
            </a:pPr>
            <a:r>
              <a:rPr lang="en-US" sz="1300" b="1" dirty="0">
                <a:solidFill>
                  <a:srgbClr val="03897E"/>
                </a:solidFill>
                <a:latin typeface="Calibri" pitchFamily="34" charset="0"/>
                <a:ea typeface="Calibri" pitchFamily="34" charset="-122"/>
                <a:cs typeface="Calibri" pitchFamily="34" charset="-120"/>
              </a:rPr>
              <a:t>Posts 5 · 11 · 15  +  6 · 12 · 16</a:t>
            </a:r>
            <a:endParaRPr lang="en-US" sz="1300" dirty="0"/>
          </a:p>
        </p:txBody>
      </p:sp>
      <p:sp>
        <p:nvSpPr>
          <p:cNvPr id="15" name="Text 13"/>
          <p:cNvSpPr/>
          <p:nvPr/>
        </p:nvSpPr>
        <p:spPr>
          <a:xfrm>
            <a:off x="7223760" y="3282696"/>
            <a:ext cx="4389120" cy="548640"/>
          </a:xfrm>
          <a:prstGeom prst="rect">
            <a:avLst/>
          </a:prstGeom>
          <a:noFill/>
          <a:ln/>
        </p:spPr>
        <p:txBody>
          <a:bodyPr wrap="square" lIns="0" tIns="0" rIns="0" bIns="0" rtlCol="0" anchor="ctr"/>
          <a:lstStyle/>
          <a:p>
            <a:pPr indent="0" marL="0">
              <a:buNone/>
            </a:pPr>
            <a:r>
              <a:rPr lang="en-US" sz="1250" dirty="0">
                <a:solidFill>
                  <a:srgbClr val="5A6B85"/>
                </a:solidFill>
                <a:latin typeface="Calibri" pitchFamily="34" charset="0"/>
                <a:ea typeface="Calibri" pitchFamily="34" charset="-122"/>
                <a:cs typeface="Calibri" pitchFamily="34" charset="-120"/>
              </a:rPr>
              <a:t>Depth on all three service pillars</a:t>
            </a:r>
            <a:endParaRPr lang="en-US" sz="1250" dirty="0"/>
          </a:p>
        </p:txBody>
      </p:sp>
      <p:sp>
        <p:nvSpPr>
          <p:cNvPr id="16" name="Shape 14"/>
          <p:cNvSpPr/>
          <p:nvPr/>
        </p:nvSpPr>
        <p:spPr>
          <a:xfrm>
            <a:off x="594360" y="4050792"/>
            <a:ext cx="1920240" cy="566928"/>
          </a:xfrm>
          <a:prstGeom prst="roundRect">
            <a:avLst>
              <a:gd name="adj" fmla="val 14516"/>
            </a:avLst>
          </a:prstGeom>
          <a:solidFill>
            <a:srgbClr val="0A1F44"/>
          </a:solidFill>
          <a:ln/>
        </p:spPr>
      </p:sp>
      <p:sp>
        <p:nvSpPr>
          <p:cNvPr id="17" name="Text 15"/>
          <p:cNvSpPr/>
          <p:nvPr/>
        </p:nvSpPr>
        <p:spPr>
          <a:xfrm>
            <a:off x="594360" y="4050792"/>
            <a:ext cx="19202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Weeks 7–8</a:t>
            </a:r>
            <a:endParaRPr lang="en-US" sz="1300" dirty="0"/>
          </a:p>
        </p:txBody>
      </p:sp>
      <p:sp>
        <p:nvSpPr>
          <p:cNvPr id="18" name="Text 16"/>
          <p:cNvSpPr/>
          <p:nvPr/>
        </p:nvSpPr>
        <p:spPr>
          <a:xfrm>
            <a:off x="2788920" y="4069080"/>
            <a:ext cx="4206240" cy="548640"/>
          </a:xfrm>
          <a:prstGeom prst="rect">
            <a:avLst/>
          </a:prstGeom>
          <a:noFill/>
          <a:ln/>
        </p:spPr>
        <p:txBody>
          <a:bodyPr wrap="square" lIns="0" tIns="0" rIns="0" bIns="0" rtlCol="0" anchor="ctr"/>
          <a:lstStyle/>
          <a:p>
            <a:pPr indent="0" marL="0">
              <a:buNone/>
            </a:pPr>
            <a:r>
              <a:rPr lang="en-US" sz="1300" b="1" dirty="0">
                <a:solidFill>
                  <a:srgbClr val="03897E"/>
                </a:solidFill>
                <a:latin typeface="Calibri" pitchFamily="34" charset="0"/>
                <a:ea typeface="Calibri" pitchFamily="34" charset="-122"/>
                <a:cs typeface="Calibri" pitchFamily="34" charset="-120"/>
              </a:rPr>
              <a:t>Posts 19 · 20 · 17  +  21 · 22 · 27</a:t>
            </a:r>
            <a:endParaRPr lang="en-US" sz="1300" dirty="0"/>
          </a:p>
        </p:txBody>
      </p:sp>
      <p:sp>
        <p:nvSpPr>
          <p:cNvPr id="19" name="Text 17"/>
          <p:cNvSpPr/>
          <p:nvPr/>
        </p:nvSpPr>
        <p:spPr>
          <a:xfrm>
            <a:off x="7223760" y="4069080"/>
            <a:ext cx="4389120" cy="548640"/>
          </a:xfrm>
          <a:prstGeom prst="rect">
            <a:avLst/>
          </a:prstGeom>
          <a:noFill/>
          <a:ln/>
        </p:spPr>
        <p:txBody>
          <a:bodyPr wrap="square" lIns="0" tIns="0" rIns="0" bIns="0" rtlCol="0" anchor="ctr"/>
          <a:lstStyle/>
          <a:p>
            <a:pPr indent="0" marL="0">
              <a:buNone/>
            </a:pPr>
            <a:r>
              <a:rPr lang="en-US" sz="1250" dirty="0">
                <a:solidFill>
                  <a:srgbClr val="5A6B85"/>
                </a:solidFill>
                <a:latin typeface="Calibri" pitchFamily="34" charset="0"/>
                <a:ea typeface="Calibri" pitchFamily="34" charset="-122"/>
                <a:cs typeface="Calibri" pitchFamily="34" charset="-120"/>
              </a:rPr>
              <a:t>Success stories + sale-season urgency</a:t>
            </a:r>
            <a:endParaRPr lang="en-US" sz="1250" dirty="0"/>
          </a:p>
        </p:txBody>
      </p:sp>
      <p:sp>
        <p:nvSpPr>
          <p:cNvPr id="20" name="Shape 18"/>
          <p:cNvSpPr/>
          <p:nvPr/>
        </p:nvSpPr>
        <p:spPr>
          <a:xfrm>
            <a:off x="594360" y="4837176"/>
            <a:ext cx="1920240" cy="566928"/>
          </a:xfrm>
          <a:prstGeom prst="roundRect">
            <a:avLst>
              <a:gd name="adj" fmla="val 14516"/>
            </a:avLst>
          </a:prstGeom>
          <a:solidFill>
            <a:srgbClr val="0A1F44"/>
          </a:solidFill>
          <a:ln/>
        </p:spPr>
      </p:sp>
      <p:sp>
        <p:nvSpPr>
          <p:cNvPr id="21" name="Text 19"/>
          <p:cNvSpPr/>
          <p:nvPr/>
        </p:nvSpPr>
        <p:spPr>
          <a:xfrm>
            <a:off x="594360" y="4837176"/>
            <a:ext cx="19202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Weeks 9–10</a:t>
            </a:r>
            <a:endParaRPr lang="en-US" sz="1300" dirty="0"/>
          </a:p>
        </p:txBody>
      </p:sp>
      <p:sp>
        <p:nvSpPr>
          <p:cNvPr id="22" name="Text 20"/>
          <p:cNvSpPr/>
          <p:nvPr/>
        </p:nvSpPr>
        <p:spPr>
          <a:xfrm>
            <a:off x="2788920" y="4855464"/>
            <a:ext cx="4206240" cy="548640"/>
          </a:xfrm>
          <a:prstGeom prst="rect">
            <a:avLst/>
          </a:prstGeom>
          <a:noFill/>
          <a:ln/>
        </p:spPr>
        <p:txBody>
          <a:bodyPr wrap="square" lIns="0" tIns="0" rIns="0" bIns="0" rtlCol="0" anchor="ctr"/>
          <a:lstStyle/>
          <a:p>
            <a:pPr indent="0" marL="0">
              <a:buNone/>
            </a:pPr>
            <a:r>
              <a:rPr lang="en-US" sz="1300" b="1" dirty="0">
                <a:solidFill>
                  <a:srgbClr val="03897E"/>
                </a:solidFill>
                <a:latin typeface="Calibri" pitchFamily="34" charset="0"/>
                <a:ea typeface="Calibri" pitchFamily="34" charset="-122"/>
                <a:cs typeface="Calibri" pitchFamily="34" charset="-120"/>
              </a:rPr>
              <a:t>Posts 23 · 18 · 28  +  24 · 29 · 30</a:t>
            </a:r>
            <a:endParaRPr lang="en-US" sz="1300" dirty="0"/>
          </a:p>
        </p:txBody>
      </p:sp>
      <p:sp>
        <p:nvSpPr>
          <p:cNvPr id="23" name="Text 21"/>
          <p:cNvSpPr/>
          <p:nvPr/>
        </p:nvSpPr>
        <p:spPr>
          <a:xfrm>
            <a:off x="7223760" y="4855464"/>
            <a:ext cx="4389120" cy="548640"/>
          </a:xfrm>
          <a:prstGeom prst="rect">
            <a:avLst/>
          </a:prstGeom>
          <a:noFill/>
          <a:ln/>
        </p:spPr>
        <p:txBody>
          <a:bodyPr wrap="square" lIns="0" tIns="0" rIns="0" bIns="0" rtlCol="0" anchor="ctr"/>
          <a:lstStyle/>
          <a:p>
            <a:pPr indent="0" marL="0">
              <a:buNone/>
            </a:pPr>
            <a:r>
              <a:rPr lang="en-US" sz="1250" dirty="0">
                <a:solidFill>
                  <a:srgbClr val="5A6B85"/>
                </a:solidFill>
                <a:latin typeface="Calibri" pitchFamily="34" charset="0"/>
                <a:ea typeface="Calibri" pitchFamily="34" charset="-122"/>
                <a:cs typeface="Calibri" pitchFamily="34" charset="-120"/>
              </a:rPr>
              <a:t>Proof, services recap, founder close</a:t>
            </a:r>
            <a:endParaRPr lang="en-US" sz="1250" dirty="0"/>
          </a:p>
        </p:txBody>
      </p:sp>
      <p:sp>
        <p:nvSpPr>
          <p:cNvPr id="24" name="Text 22"/>
          <p:cNvSpPr/>
          <p:nvPr/>
        </p:nvSpPr>
        <p:spPr>
          <a:xfrm>
            <a:off x="594360" y="5806440"/>
            <a:ext cx="10972800" cy="640080"/>
          </a:xfrm>
          <a:prstGeom prst="rect">
            <a:avLst/>
          </a:prstGeom>
          <a:noFill/>
          <a:ln/>
        </p:spPr>
        <p:txBody>
          <a:bodyPr wrap="square" lIns="0" tIns="0" rIns="0" bIns="0" rtlCol="0" anchor="ctr"/>
          <a:lstStyle/>
          <a:p>
            <a:pPr indent="0" marL="0">
              <a:buNone/>
            </a:pPr>
            <a:r>
              <a:rPr lang="en-US" sz="1250" b="1" dirty="0">
                <a:solidFill>
                  <a:srgbClr val="0A1F44"/>
                </a:solidFill>
                <a:latin typeface="Calibri" pitchFamily="34" charset="0"/>
                <a:ea typeface="Calibri" pitchFamily="34" charset="-122"/>
                <a:cs typeface="Calibri" pitchFamily="34" charset="-120"/>
              </a:rPr>
              <a:t>Timing:  </a:t>
            </a:r>
            <a:pPr indent="0" marL="0">
              <a:buNone/>
            </a:pPr>
            <a:r>
              <a:rPr lang="en-US" sz="1250" dirty="0">
                <a:solidFill>
                  <a:srgbClr val="5A6B85"/>
                </a:solidFill>
                <a:latin typeface="Calibri" pitchFamily="34" charset="0"/>
                <a:ea typeface="Calibri" pitchFamily="34" charset="-122"/>
                <a:cs typeface="Calibri" pitchFamily="34" charset="-120"/>
              </a:rPr>
              <a:t>LinkedIn Tue–Thu 9–11 a.m. PKT  ·  Instagram &amp; Facebook 7–9 p.m. PKT  ·  reply to comments within the first hour  ·  pin Post 29 on every profile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148840"/>
            <a:ext cx="10058400" cy="365760"/>
          </a:xfrm>
          <a:prstGeom prst="rect">
            <a:avLst/>
          </a:prstGeom>
          <a:noFill/>
          <a:ln/>
        </p:spPr>
        <p:txBody>
          <a:bodyPr wrap="square" lIns="0" tIns="0" rIns="0" bIns="0" rtlCol="0" anchor="ctr"/>
          <a:lstStyle/>
          <a:p>
            <a:pPr indent="0" marL="0">
              <a:buNone/>
            </a:pPr>
            <a:r>
              <a:rPr lang="en-US" sz="1500" b="1" spc="300" kern="0" dirty="0">
                <a:solidFill>
                  <a:srgbClr val="00B3A4"/>
                </a:solidFill>
                <a:latin typeface="Calibri" pitchFamily="34" charset="0"/>
                <a:ea typeface="Calibri" pitchFamily="34" charset="-122"/>
                <a:cs typeface="Calibri" pitchFamily="34" charset="-120"/>
              </a:rPr>
              <a:t>PILLAR 1  ·  POSTS 1–6</a:t>
            </a:r>
            <a:endParaRPr lang="en-US" sz="1500" dirty="0"/>
          </a:p>
        </p:txBody>
      </p:sp>
      <p:sp>
        <p:nvSpPr>
          <p:cNvPr id="3" name="Text 1"/>
          <p:cNvSpPr/>
          <p:nvPr/>
        </p:nvSpPr>
        <p:spPr>
          <a:xfrm>
            <a:off x="822960" y="2606040"/>
            <a:ext cx="1042416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Modern Web Development</a:t>
            </a:r>
            <a:endParaRPr lang="en-US" sz="4800" dirty="0"/>
          </a:p>
        </p:txBody>
      </p:sp>
      <p:sp>
        <p:nvSpPr>
          <p:cNvPr id="4" name="Text 2"/>
          <p:cNvSpPr/>
          <p:nvPr/>
        </p:nvSpPr>
        <p:spPr>
          <a:xfrm>
            <a:off x="822960" y="3794760"/>
            <a:ext cx="8961120" cy="1005840"/>
          </a:xfrm>
          <a:prstGeom prst="rect">
            <a:avLst/>
          </a:prstGeom>
          <a:noFill/>
          <a:ln/>
        </p:spPr>
        <p:txBody>
          <a:bodyPr wrap="square" lIns="0" tIns="0" rIns="0" bIns="0" rtlCol="0" anchor="ctr"/>
          <a:lstStyle/>
          <a:p>
            <a:pPr indent="0" marL="0">
              <a:lnSpc>
                <a:spcPct val="120000"/>
              </a:lnSpc>
              <a:buNone/>
            </a:pPr>
            <a:r>
              <a:rPr lang="en-US" sz="1550" dirty="0">
                <a:solidFill>
                  <a:srgbClr val="D8E2F0"/>
                </a:solidFill>
                <a:latin typeface="Calibri" pitchFamily="34" charset="0"/>
                <a:ea typeface="Calibri" pitchFamily="34" charset="-122"/>
                <a:cs typeface="Calibri" pitchFamily="34" charset="-120"/>
              </a:rPr>
              <a:t>MERN-stack capability translated into business outcomes: speed, security, scalability, and a process that doesn't intimidate first-time website buyers.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01  </a:t>
            </a:r>
            <a:pPr indent="0" marL="0">
              <a:buNone/>
            </a:pPr>
            <a:r>
              <a:rPr lang="en-US" sz="2600" b="1" dirty="0">
                <a:solidFill>
                  <a:srgbClr val="0A1F44"/>
                </a:solidFill>
                <a:latin typeface="Arial" pitchFamily="34" charset="0"/>
                <a:ea typeface="Arial" pitchFamily="34" charset="-122"/>
                <a:cs typeface="Arial" pitchFamily="34" charset="-120"/>
              </a:rPr>
              <a:t>Your Hardest-Working Employee</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A · Bold Statement   ·   LinkedIn + Facebook</a:t>
            </a:r>
            <a:endParaRPr lang="en-US" sz="1200" dirty="0"/>
          </a:p>
        </p:txBody>
      </p:sp>
      <p:pic>
        <p:nvPicPr>
          <p:cNvPr id="4" name="Image 0" descr="/tmp/claude-0/-home-user-Fareed-Zafar/b9dfb78d-425a-55e9-8401-3a5eeab06b9e/scratchpad/mocks/mock-01.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Your best salesperson doesn't sleep.</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 well-built website takes orders at 2 a.m., answers the questions you're tired of repeating, and represents your brand perfectly every single time — whether one customer visits or ten thousand.</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build fast, secure, custom web stores on the MERN stack for businesses across Pakistan that are ready to grow beyond their DMs.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If your business still lives only on Instagram and WhatsApp, let's change that. Book a free consultation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#WebDevelopment #EcommercePakistan #DigitalPakistan #OnlineStore #SmallBusinessPakistan #BusinessGrowth</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Campaign opener. Publish first, Tuesday–Thursday morning (9–11 a.m. PKT) when business owners check feeds.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02  </a:t>
            </a:r>
            <a:pPr indent="0" marL="0">
              <a:buNone/>
            </a:pPr>
            <a:r>
              <a:rPr lang="en-US" sz="2600" b="1" dirty="0">
                <a:solidFill>
                  <a:srgbClr val="0A1F44"/>
                </a:solidFill>
                <a:latin typeface="Arial" pitchFamily="34" charset="0"/>
                <a:ea typeface="Arial" pitchFamily="34" charset="-122"/>
                <a:cs typeface="Arial" pitchFamily="34" charset="-120"/>
              </a:rPr>
              <a:t>MERN, in Plain Business Terms</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6 slides   ·   Template C · Carousel   ·   Instagram + LinkedIn</a:t>
            </a:r>
            <a:endParaRPr lang="en-US" sz="1200" dirty="0"/>
          </a:p>
        </p:txBody>
      </p:sp>
      <p:pic>
        <p:nvPicPr>
          <p:cNvPr id="4" name="Image 0" descr="/tmp/claude-0/-home-user-Fareed-Zafar/b9dfb78d-425a-55e9-8401-3a5eeab06b9e/scratchpad/mocks/mock-02.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build on the MERN stack" — great, but what does that actually do for your business?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Swipe for the no-jargon version. The short answer: a store that loads instantly, never buckles on sale day, and scales as you grow — the same technologies powering Netflix and PayPal, sized for your business.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 shouldn't need a computer science degree to invest in your own website. That's what we're here for.</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Questions about your current site's tech? Ask in the comments — we answer all of them.</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#MERNStack #WebDevelopment #EcommercePakistan #TechExplained #DigitalPakistan #OnlineStore</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Mid-week educational slot. Carousels earn the highest saves — pin to the profile grid. Slides: cover → MongoDB → Express → React → Node.js → CTA.</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03  </a:t>
            </a:r>
            <a:pPr indent="0" marL="0">
              <a:buNone/>
            </a:pPr>
            <a:r>
              <a:rPr lang="en-US" sz="2600" b="1" dirty="0">
                <a:solidFill>
                  <a:srgbClr val="0A1F44"/>
                </a:solidFill>
                <a:latin typeface="Arial" pitchFamily="34" charset="0"/>
                <a:ea typeface="Arial" pitchFamily="34" charset="-122"/>
                <a:cs typeface="Arial" pitchFamily="34" charset="-120"/>
              </a:rPr>
              <a:t>The 3-Second Rule</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B · Stat Spotlight   ·   Instagram + Facebook</a:t>
            </a:r>
            <a:endParaRPr lang="en-US" sz="1200" dirty="0"/>
          </a:p>
        </p:txBody>
      </p:sp>
      <p:pic>
        <p:nvPicPr>
          <p:cNvPr id="4" name="Image 0" descr="/tmp/claude-0/-home-user-Fareed-Zafar/b9dfb78d-425a-55e9-8401-3a5eeab06b9e/scratchpad/mocks/mock-03.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 have 3 seconds.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More than half of your visitors won't wait longer than that for your site to load. Every extra second is a customer walking out of a shop they never fully entered — and you paid to bring them there.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Speed isn't a luxury feature. It's the difference between an ad budget that converts and one that evaporates. Every store we ship is performance-tested to load in under 2 seconds on Pakistani mobile networks, because that's where your customers actually are.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Want to know your site's real load time? Comment "SPEED" and we'll run a free audit.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#WebPerformance #EcommercePakistan #WebDevelopment #ConversionRate #DigitalPakistan #SmallBusinessPakistan</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Pair with the "SPEED" comment hook to drive engagement; respond to every comment within the first hour.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04  </a:t>
            </a:r>
            <a:pPr indent="0" marL="0">
              <a:buNone/>
            </a:pPr>
            <a:r>
              <a:rPr lang="en-US" sz="2600" b="1" dirty="0">
                <a:solidFill>
                  <a:srgbClr val="0A1F44"/>
                </a:solidFill>
                <a:latin typeface="Arial" pitchFamily="34" charset="0"/>
                <a:ea typeface="Arial" pitchFamily="34" charset="-122"/>
                <a:cs typeface="Arial" pitchFamily="34" charset="-120"/>
              </a:rPr>
              <a:t>Is Your Website a Locked Shop?</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1200×1200   ·   Template E · Checklist   ·   LinkedIn (reshare to Facebook)</a:t>
            </a:r>
            <a:endParaRPr lang="en-US" sz="1200" dirty="0"/>
          </a:p>
        </p:txBody>
      </p:sp>
      <p:pic>
        <p:nvPicPr>
          <p:cNvPr id="4" name="Image 0" descr="/tmp/claude-0/-home-user-Fareed-Zafar/b9dfb78d-425a-55e9-8401-3a5eeab06b9e/scratchpad/mocks/mock-04.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 lock your shop every night. Is your website locked too?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One security incident can cost more than years of hosting — lost orders, lost data, and hardest of all, lost customer trust. Once a customer sees a browser warning on your checkout page, they rarely come back.</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 site we build ships with all five of these as standard, not as add-ons. Security isn't a premium tier — it's the foundation.</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Not sure whether your current site would pass this checklist? Send us a message — we'll take a look, no strings attached.</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#WebsiteSecurity #EcommercePakistan #WebDevelopment #SSL #PakistanBusiness #TrustMatters</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Decision-makers care about risk. Good Monday post — practical, saves well.</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05  </a:t>
            </a:r>
            <a:pPr indent="0" marL="0">
              <a:buNone/>
            </a:pPr>
            <a:r>
              <a:rPr lang="en-US" sz="2600" b="1" dirty="0">
                <a:solidFill>
                  <a:srgbClr val="0A1F44"/>
                </a:solidFill>
                <a:latin typeface="Arial" pitchFamily="34" charset="0"/>
                <a:ea typeface="Arial" pitchFamily="34" charset="-122"/>
                <a:cs typeface="Arial" pitchFamily="34" charset="-120"/>
              </a:rPr>
              <a:t>Built for 100 Orders, Ready for 10,000</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1200×1200   ·   Template B · Stat Spotlight   ·   LinkedIn (+ Instagram pre-season)</a:t>
            </a:r>
            <a:endParaRPr lang="en-US" sz="1200" dirty="0"/>
          </a:p>
        </p:txBody>
      </p:sp>
      <p:pic>
        <p:nvPicPr>
          <p:cNvPr id="4" name="Image 0" descr="/tmp/claude-0/-home-user-Fareed-Zafar/b9dfb78d-425a-55e9-8401-3a5eeab06b9e/scratchpad/mocks/mock-05.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most expensive website is the one you have to build twice.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We've met too many business owners whose site worked fine at 100 orders a day — then a viral reel, a TV mention, or a strong sale season arrived, and everything crashed at the exact moment it mattered most.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Scalable architecture means your store grows with your ambition: more products, more traffic, more orders, same solid foundation. You invest once, and it keeps up.</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Planning for growth is cheaper than repairing for it. Let's talk about where your business is headed — free consultation,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#Scalability #EcommercePakistan #WebDevelopment #BusinessGrowth #DigitalPakistan #MERNStack</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Speaks to owners planning expansion. Strong August–October, ahead of 11.11 and winter sales.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06  </a:t>
            </a:r>
            <a:pPr indent="0" marL="0">
              <a:buNone/>
            </a:pPr>
            <a:r>
              <a:rPr lang="en-US" sz="2600" b="1" dirty="0">
                <a:solidFill>
                  <a:srgbClr val="0A1F44"/>
                </a:solidFill>
                <a:latin typeface="Arial" pitchFamily="34" charset="0"/>
                <a:ea typeface="Arial" pitchFamily="34" charset="-122"/>
                <a:cs typeface="Arial" pitchFamily="34" charset="-120"/>
              </a:rPr>
              <a:t>From Idea to Live Store</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Template G · Device Mockup   ·   Instagram + Facebook</a:t>
            </a:r>
            <a:endParaRPr lang="en-US" sz="1200" dirty="0"/>
          </a:p>
        </p:txBody>
      </p:sp>
      <p:pic>
        <p:nvPicPr>
          <p:cNvPr id="4" name="Image 0" descr="/tmp/claude-0/-home-user-Fareed-Zafar/b9dfb78d-425a-55e9-8401-3a5eeab06b9e/scratchpad/mocks/mock-06.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"I want a website, but I don't know where to start."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hear this every week — and it's exactly why our process starts with a conversation, not a contract. Here's how an idea becomes your live store: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1️⃣ Discover — we understand your business, customers, and goals</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2️⃣ Design — you see and approve every screen before we build</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3️⃣ Build — clean, fast, secure development on the MERN stack</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4️⃣ Launch — your store goes live, and we stay for support and growth</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No jargon. No surprises. No disappearing after launch — we're a growth partner, not a one-time vendor.</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Step 1 is a free discovery call. Book yours through the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#WebDevelopment #OnlineStore #EcommercePakistan #SmallBusinessPakistan #DigitalPakistan #StartupPakistan</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Excellent for first-time website buyers; boost to a cold audience of small business owners.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148840"/>
            <a:ext cx="10058400" cy="365760"/>
          </a:xfrm>
          <a:prstGeom prst="rect">
            <a:avLst/>
          </a:prstGeom>
          <a:noFill/>
          <a:ln/>
        </p:spPr>
        <p:txBody>
          <a:bodyPr wrap="square" lIns="0" tIns="0" rIns="0" bIns="0" rtlCol="0" anchor="ctr"/>
          <a:lstStyle/>
          <a:p>
            <a:pPr indent="0" marL="0">
              <a:buNone/>
            </a:pPr>
            <a:r>
              <a:rPr lang="en-US" sz="1500" b="1" spc="300" kern="0" dirty="0">
                <a:solidFill>
                  <a:srgbClr val="00B3A4"/>
                </a:solidFill>
                <a:latin typeface="Calibri" pitchFamily="34" charset="0"/>
                <a:ea typeface="Calibri" pitchFamily="34" charset="-122"/>
                <a:cs typeface="Calibri" pitchFamily="34" charset="-120"/>
              </a:rPr>
              <a:t>PILLAR 2  ·  POSTS 7–12</a:t>
            </a:r>
            <a:endParaRPr lang="en-US" sz="1500" dirty="0"/>
          </a:p>
        </p:txBody>
      </p:sp>
      <p:sp>
        <p:nvSpPr>
          <p:cNvPr id="3" name="Text 1"/>
          <p:cNvSpPr/>
          <p:nvPr/>
        </p:nvSpPr>
        <p:spPr>
          <a:xfrm>
            <a:off x="822960" y="2606040"/>
            <a:ext cx="1042416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SEO &amp; Content Strategy</a:t>
            </a:r>
            <a:endParaRPr lang="en-US" sz="4800" dirty="0"/>
          </a:p>
        </p:txBody>
      </p:sp>
      <p:sp>
        <p:nvSpPr>
          <p:cNvPr id="4" name="Text 2"/>
          <p:cNvSpPr/>
          <p:nvPr/>
        </p:nvSpPr>
        <p:spPr>
          <a:xfrm>
            <a:off x="822960" y="3794760"/>
            <a:ext cx="8961120" cy="1005840"/>
          </a:xfrm>
          <a:prstGeom prst="rect">
            <a:avLst/>
          </a:prstGeom>
          <a:noFill/>
          <a:ln/>
        </p:spPr>
        <p:txBody>
          <a:bodyPr wrap="square" lIns="0" tIns="0" rIns="0" bIns="0" rtlCol="0" anchor="ctr"/>
          <a:lstStyle/>
          <a:p>
            <a:pPr indent="0" marL="0">
              <a:lnSpc>
                <a:spcPct val="120000"/>
              </a:lnSpc>
              <a:buNone/>
            </a:pPr>
            <a:r>
              <a:rPr lang="en-US" sz="1550" dirty="0">
                <a:solidFill>
                  <a:srgbClr val="D8E2F0"/>
                </a:solidFill>
                <a:latin typeface="Calibri" pitchFamily="34" charset="0"/>
                <a:ea typeface="Calibri" pitchFamily="34" charset="-122"/>
                <a:cs typeface="Calibri" pitchFamily="34" charset="-120"/>
              </a:rPr>
              <a:t>Visibility, reach, and traffic — SEO framed as compounding, ownable growth rather than a mysterious black box.</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07  </a:t>
            </a:r>
            <a:pPr indent="0" marL="0">
              <a:buNone/>
            </a:pPr>
            <a:r>
              <a:rPr lang="en-US" sz="2600" b="1" dirty="0">
                <a:solidFill>
                  <a:srgbClr val="0A1F44"/>
                </a:solidFill>
                <a:latin typeface="Arial" pitchFamily="34" charset="0"/>
                <a:ea typeface="Arial" pitchFamily="34" charset="-122"/>
                <a:cs typeface="Arial" pitchFamily="34" charset="-120"/>
              </a:rPr>
              <a:t>Found or Forgotten</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A · Bold Statement   ·   All platforms</a:t>
            </a:r>
            <a:endParaRPr lang="en-US" sz="1200" dirty="0"/>
          </a:p>
        </p:txBody>
      </p:sp>
      <p:pic>
        <p:nvPicPr>
          <p:cNvPr id="4" name="Image 0" descr="/tmp/claude-0/-home-user-Fareed-Zafar/b9dfb78d-425a-55e9-8401-3a5eeab06b9e/scratchpad/mocks/mock-07.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Right now, someone is searching Google for exactly what you sell.</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only question is whose website they'll find.</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SEO isn't a technical luxury — it's your shop sign on the busiest street in the world. Businesses that rank get a steady stream of customers who arrive already looking to buy. Businesses that don't are invisible at the exact moment of highest intent.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build data-driven SEO and content strategies that put growing Pakistani businesses in front of the customers already searching for them.</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Want to know what your customers are searching for? Comment "SEARCH" and we'll share the top queries in your industry.</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#SEO #DigitalPakistan #ContentStrategy #PakistanBusiness #OnlineVisibility #BusinessGrowth</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Pillar anchor. LinkedIn Tuesday morning; the comment hook feeds the algorithm on Instagram and Facebook.</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08  </a:t>
            </a:r>
            <a:pPr indent="0" marL="0">
              <a:buNone/>
            </a:pPr>
            <a:r>
              <a:rPr lang="en-US" sz="2600" b="1" dirty="0">
                <a:solidFill>
                  <a:srgbClr val="0A1F44"/>
                </a:solidFill>
                <a:latin typeface="Arial" pitchFamily="34" charset="0"/>
                <a:ea typeface="Arial" pitchFamily="34" charset="-122"/>
                <a:cs typeface="Arial" pitchFamily="34" charset="-120"/>
              </a:rPr>
              <a:t>5 Reasons You're Invisible on Google</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7 slides   ·   Template C · Carousel   ·   Instagram + LinkedIn</a:t>
            </a:r>
            <a:endParaRPr lang="en-US" sz="1200" dirty="0"/>
          </a:p>
        </p:txBody>
      </p:sp>
      <p:pic>
        <p:nvPicPr>
          <p:cNvPr id="4" name="Image 0" descr="/tmp/claude-0/-home-user-Fareed-Zafar/b9dfb78d-425a-55e9-8401-3a5eeab06b9e/scratchpad/mocks/mock-08.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Your website isn't on page 1 of Google. It's not bad luck — it's usually one of these five reasons. 👉 Swipe.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encouraging part: every single one is fixable, and fixing them compounds. SEO done right in month 1 is still bringing you customers in month 24 — it's the closest thing to owning, rather than renting, your traffic.</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start every SEO engagement with a full audit so you know exactly where you stand before spending a rupee on strategy.</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Want yours? The audit is free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#SEO #SEOAudit #DigitalPakistan #ContentStrategy #EcommercePakistan #SmallBusinessPakistan</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High-save educational content. Schedule mid-week; pin to the LinkedIn featured section. Slides: cover → speed → keywords → stale content → no mentions → hidden errors → CTA.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09  </a:t>
            </a:r>
            <a:pPr indent="0" marL="0">
              <a:buNone/>
            </a:pPr>
            <a:r>
              <a:rPr lang="en-US" sz="2600" b="1" dirty="0">
                <a:solidFill>
                  <a:srgbClr val="0A1F44"/>
                </a:solidFill>
                <a:latin typeface="Arial" pitchFamily="34" charset="0"/>
                <a:ea typeface="Arial" pitchFamily="34" charset="-122"/>
                <a:cs typeface="Arial" pitchFamily="34" charset="-120"/>
              </a:rPr>
              <a:t>Where Buying Journeys Begin</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B · Stat Spotlight   ·   LinkedIn (+ IG story poll)</a:t>
            </a:r>
            <a:endParaRPr lang="en-US" sz="1200" dirty="0"/>
          </a:p>
        </p:txBody>
      </p:sp>
      <p:pic>
        <p:nvPicPr>
          <p:cNvPr id="4" name="Image 0" descr="/tmp/claude-0/-home-user-Fareed-Zafar/b9dfb78d-425a-55e9-8401-3a5eeab06b9e/scratchpad/mocks/mock-09.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68% of online experiences begin with a search engine. Not with an ad. Not with social media. With a search.</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That means for most of your future customers, the journey to buying from you starts in a Google search box — and where you rank decides whether that journey includes you at all.</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Paid ads stop working the moment you stop paying. Rankings keep working while you sleep. The smartest growth budgets in 2026 do both — but only one of them compounds.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Let's build your search pipeline. Free strategy call,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#SEO #DigitalMarketing #DigitalPakistan #BusinessGrowth #ContentStrategy #PakistanBusiness</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Stat posts perform with B2B decision-makers. Reshare as an Instagram story with a poll sticker ("Do you know what you rank for?").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10  </a:t>
            </a:r>
            <a:pPr indent="0" marL="0">
              <a:buNone/>
            </a:pPr>
            <a:r>
              <a:rPr lang="en-US" sz="2600" b="1" dirty="0">
                <a:solidFill>
                  <a:srgbClr val="0A1F44"/>
                </a:solidFill>
                <a:latin typeface="Arial" pitchFamily="34" charset="0"/>
                <a:ea typeface="Arial" pitchFamily="34" charset="-122"/>
                <a:cs typeface="Arial" pitchFamily="34" charset="-120"/>
              </a:rPr>
              <a:t>What a Real SEO Partner Does Monthly</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1200×1200   ·   Template E · Checklist   ·   LinkedIn (+ Instagram)</a:t>
            </a:r>
            <a:endParaRPr lang="en-US" sz="1200" dirty="0"/>
          </a:p>
        </p:txBody>
      </p:sp>
      <p:pic>
        <p:nvPicPr>
          <p:cNvPr id="4" name="Image 0" descr="/tmp/claude-0/-home-user-Fareed-Zafar/b9dfb78d-425a-55e9-8401-3a5eeab06b9e/scratchpad/mocks/mock-10.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"We're doing SEO for you" should never be the whole report.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SEO has a reputation problem in our market — too many businesses pay monthly for months and can't say what they actually received. So here's our transparency checklist: six things you should expect from any SEO partner, including us. Screenshot it. Use it in your next vendor meeting.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send every client a plain-language monthly report and walk through it on a call — because you can't steer growth you don't understand.</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If your current SEO reporting doesn't look like this, let's talk.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#SEO #ContentStrategy #DigitalPakistan #TransparentMarketing #PakistanBusiness #SmallBusinessPakistan</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Trust-builder and differentiator. The "screenshot this" mechanic drives saves.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11  </a:t>
            </a:r>
            <a:pPr indent="0" marL="0">
              <a:buNone/>
            </a:pPr>
            <a:r>
              <a:rPr lang="en-US" sz="2600" b="1" dirty="0">
                <a:solidFill>
                  <a:srgbClr val="0A1F44"/>
                </a:solidFill>
                <a:latin typeface="Arial" pitchFamily="34" charset="0"/>
                <a:ea typeface="Arial" pitchFamily="34" charset="-122"/>
                <a:cs typeface="Arial" pitchFamily="34" charset="-120"/>
              </a:rPr>
              <a:t>SEO Is Not a One-Time Fix</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F · Split Panel   ·   Instagram + Facebook</a:t>
            </a:r>
            <a:endParaRPr lang="en-US" sz="1200" dirty="0"/>
          </a:p>
        </p:txBody>
      </p:sp>
      <p:pic>
        <p:nvPicPr>
          <p:cNvPr id="4" name="Image 0" descr="/tmp/claude-0/-home-user-Fareed-Zafar/b9dfb78d-425a-55e9-8401-3a5eeab06b9e/scratchpad/mocks/mock-11.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already did SEO."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hear this a lot — and it's like saying "we already did exercise." Search rankings are a living scoreboard: Google updates its algorithm thousands of times a year, competitors publish, customer search habits shift.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reality? Consistency wins. A steady monthly rhythm of content, fixes, and refinement compounds into page-1 positions that are genuinely hard for competitors to take from you. That durability is the whole point.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Stop sprinting occasionally. Start compounding. Free SEO strategy call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#SEO #SEOMyths #ContentStrategy #DigitalPakistan #BusinessGrowth #PakistanBusiness</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Myth-bust formats earn comments and shares; invite debate in the replies. Good Friday-afternoon post.</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12  </a:t>
            </a:r>
            <a:pPr indent="0" marL="0">
              <a:buNone/>
            </a:pPr>
            <a:r>
              <a:rPr lang="en-US" sz="2600" b="1" dirty="0">
                <a:solidFill>
                  <a:srgbClr val="0A1F44"/>
                </a:solidFill>
                <a:latin typeface="Arial" pitchFamily="34" charset="0"/>
                <a:ea typeface="Arial" pitchFamily="34" charset="-122"/>
                <a:cs typeface="Arial" pitchFamily="34" charset="-120"/>
              </a:rPr>
              <a:t>Content That Sells While You Sleep</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Template G · Device Mockup   ·   Instagram + LinkedIn</a:t>
            </a:r>
            <a:endParaRPr lang="en-US" sz="1200" dirty="0"/>
          </a:p>
        </p:txBody>
      </p:sp>
      <p:pic>
        <p:nvPicPr>
          <p:cNvPr id="4" name="Image 0" descr="/tmp/claude-0/-home-user-Fareed-Zafar/b9dfb78d-425a-55e9-8401-3a5eeab06b9e/scratchpad/mocks/mock-12.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Your best salesperson might be a blog post.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 size guide. A "how to choose" article. An honest comparison. Content like this answers the questions your customers are already Googling — and every answer is a doorway into your store that stays open 24/7, at zero cost per click.</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This is what content strategy actually means: not posting for the sake of posting, but building a library of assets that rank, earn trust, and quietly convert — month after month, while you focus on running the business.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plan, write, and optimize it end-to-end. Curious what content your customers are searching for? Comment "CONTENT" and we'll tell you.</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#ContentStrategy #ContentMarketing #SEO #DigitalPakistan #EcommercePakistan #BusinessGrowth</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Publish the same week as Post 9 to reinforce the organic-traffic narrative; the comment hook feeds lead generation.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148840"/>
            <a:ext cx="10058400" cy="365760"/>
          </a:xfrm>
          <a:prstGeom prst="rect">
            <a:avLst/>
          </a:prstGeom>
          <a:noFill/>
          <a:ln/>
        </p:spPr>
        <p:txBody>
          <a:bodyPr wrap="square" lIns="0" tIns="0" rIns="0" bIns="0" rtlCol="0" anchor="ctr"/>
          <a:lstStyle/>
          <a:p>
            <a:pPr indent="0" marL="0">
              <a:buNone/>
            </a:pPr>
            <a:r>
              <a:rPr lang="en-US" sz="1500" b="1" spc="300" kern="0" dirty="0">
                <a:solidFill>
                  <a:srgbClr val="00B3A4"/>
                </a:solidFill>
                <a:latin typeface="Calibri" pitchFamily="34" charset="0"/>
                <a:ea typeface="Calibri" pitchFamily="34" charset="-122"/>
                <a:cs typeface="Calibri" pitchFamily="34" charset="-120"/>
              </a:rPr>
              <a:t>PILLAR 3  ·  POSTS 13–18</a:t>
            </a:r>
            <a:endParaRPr lang="en-US" sz="1500" dirty="0"/>
          </a:p>
        </p:txBody>
      </p:sp>
      <p:sp>
        <p:nvSpPr>
          <p:cNvPr id="3" name="Text 1"/>
          <p:cNvSpPr/>
          <p:nvPr/>
        </p:nvSpPr>
        <p:spPr>
          <a:xfrm>
            <a:off x="822960" y="2606040"/>
            <a:ext cx="1042416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Payment Gateway Integration</a:t>
            </a:r>
            <a:endParaRPr lang="en-US" sz="4800" dirty="0"/>
          </a:p>
        </p:txBody>
      </p:sp>
      <p:sp>
        <p:nvSpPr>
          <p:cNvPr id="4" name="Text 2"/>
          <p:cNvSpPr/>
          <p:nvPr/>
        </p:nvSpPr>
        <p:spPr>
          <a:xfrm>
            <a:off x="822960" y="3794760"/>
            <a:ext cx="8961120" cy="1005840"/>
          </a:xfrm>
          <a:prstGeom prst="rect">
            <a:avLst/>
          </a:prstGeom>
          <a:noFill/>
          <a:ln/>
        </p:spPr>
        <p:txBody>
          <a:bodyPr wrap="square" lIns="0" tIns="0" rIns="0" bIns="0" rtlCol="0" anchor="ctr"/>
          <a:lstStyle/>
          <a:p>
            <a:pPr indent="0" marL="0">
              <a:lnSpc>
                <a:spcPct val="120000"/>
              </a:lnSpc>
              <a:buNone/>
            </a:pPr>
            <a:r>
              <a:rPr lang="en-US" sz="1550" dirty="0">
                <a:solidFill>
                  <a:srgbClr val="D8E2F0"/>
                </a:solidFill>
                <a:latin typeface="Calibri" pitchFamily="34" charset="0"/>
                <a:ea typeface="Calibri" pitchFamily="34" charset="-122"/>
                <a:cs typeface="Calibri" pitchFamily="34" charset="-120"/>
              </a:rPr>
              <a:t>Easypaisa &amp; JazzCash — meeting customers where their money already is. Fast onboarding, fewer abandoned carts, no COD headaches.</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13  </a:t>
            </a:r>
            <a:pPr indent="0" marL="0">
              <a:buNone/>
            </a:pPr>
            <a:r>
              <a:rPr lang="en-US" sz="2600" b="1" dirty="0">
                <a:solidFill>
                  <a:srgbClr val="0A1F44"/>
                </a:solidFill>
                <a:latin typeface="Arial" pitchFamily="34" charset="0"/>
                <a:ea typeface="Arial" pitchFamily="34" charset="-122"/>
                <a:cs typeface="Arial" pitchFamily="34" charset="-120"/>
              </a:rPr>
              <a:t>Can They Actually Pay You?</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A · Bold Statement   ·   Facebook + Instagram (+ LinkedIn)</a:t>
            </a:r>
            <a:endParaRPr lang="en-US" sz="1200" dirty="0"/>
          </a:p>
        </p:txBody>
      </p:sp>
      <p:pic>
        <p:nvPicPr>
          <p:cNvPr id="4" name="Image 0" descr="/tmp/claude-0/-home-user-Fareed-Zafar/b9dfb78d-425a-55e9-8401-3a5eeab06b9e/scratchpad/mocks/mock-13.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Here's the checkout question that decides your conversion rate in Pakistan:</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"Can I pay with Easypaisa or JazzCash?"</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Card penetration here is a fraction of wallet penetration — tens of millions of Pakistanis carry their money in a mobile wallet, not on a Visa. A checkout built only for cards (or only for cash on delivery) quietly filters out the majority of your buyers at the final step.</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integrate Easypaisa and JazzCash directly into your store — smooth for your customer, automatic for you.</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Is your checkout wallet-ready? If not, let's fix that this month.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#Easypaisa #JazzCash #EcommercePakistan #DigitalPayments #PakistanBusiness #OnlineStore</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Pillar anchor — publish first and boost it. Broadest SME reach in Pakistan is on Facebook.</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14  </a:t>
            </a:r>
            <a:pPr indent="0" marL="0">
              <a:buNone/>
            </a:pPr>
            <a:r>
              <a:rPr lang="en-US" sz="2600" b="1" dirty="0">
                <a:solidFill>
                  <a:srgbClr val="0A1F44"/>
                </a:solidFill>
                <a:latin typeface="Arial" pitchFamily="34" charset="0"/>
                <a:ea typeface="Arial" pitchFamily="34" charset="-122"/>
                <a:cs typeface="Arial" pitchFamily="34" charset="-120"/>
              </a:rPr>
              <a:t>The True Cost of Cash on Delivery</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6 slides   ·   Template C · Carousel   ·   Instagram + Facebook</a:t>
            </a:r>
            <a:endParaRPr lang="en-US" sz="1200" dirty="0"/>
          </a:p>
        </p:txBody>
      </p:sp>
      <p:pic>
        <p:nvPicPr>
          <p:cNvPr id="4" name="Image 0" descr="/tmp/claude-0/-home-user-Fareed-Zafar/b9dfb78d-425a-55e9-8401-3a5eeab06b9e/scratchpad/mocks/mock-14.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COD feels free. It isn't.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 online seller in Pakistan knows the pain: the parcel that comes back refused, the cash stuck with the courier, the "order" that was never real. Swipe for the four hidden costs of running on cash on delivery alone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fix isn't dropping COD overnight — it's giving customers a prepaid option they already trust. When Easypaisa and JazzCash sit right in your checkout, a meaningful slice of buyers happily pays upfront: committed orders, instant cash flow, zero reconciliation drama.</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We'll integrate both wallets into your store and have you accepting prepaid orders fast. Details at the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#CashOnDelivery #Easypaisa #JazzCash #EcommercePakistan #DigitalPayments #OnlineSellerPakistan</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Deeply relatable to active sellers — expect comment stories; engage with every one. Strong paid-promotion candidate. Slides: cover → refused parcels → frozen cash flow → fake orders → reconciliation → CTA.</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15  </a:t>
            </a:r>
            <a:pPr indent="0" marL="0">
              <a:buNone/>
            </a:pPr>
            <a:r>
              <a:rPr lang="en-US" sz="2600" b="1" dirty="0">
                <a:solidFill>
                  <a:srgbClr val="0A1F44"/>
                </a:solidFill>
                <a:latin typeface="Arial" pitchFamily="34" charset="0"/>
                <a:ea typeface="Arial" pitchFamily="34" charset="-122"/>
                <a:cs typeface="Arial" pitchFamily="34" charset="-120"/>
              </a:rPr>
              <a:t>Three Taps to Paid</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Template G · Device Mockup   ·   Instagram + Reels cover</a:t>
            </a:r>
            <a:endParaRPr lang="en-US" sz="1200" dirty="0"/>
          </a:p>
        </p:txBody>
      </p:sp>
      <p:pic>
        <p:nvPicPr>
          <p:cNvPr id="4" name="Image 0" descr="/tmp/claude-0/-home-user-Fareed-Zafar/b9dfb78d-425a-55e9-8401-3a5eeab06b9e/scratchpad/mocks/mock-15.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Your customer already pays their electricity bill, mobile load, and Careem rides with a wallet. Their money lives in Easypaisa and JazzCash.</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So why does your checkout make them go find a card they may not even have?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With native wallet integration, paying you takes three taps: choose wallet → approve in app → done. No forms, no friction, no "I'll complete this later" (they won't).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Familiar payment = trusted payment = completed order. It's the simplest conversion upgrade most Pakistani stores can make.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Want to see it running on your own store? Book a free demo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#Easypaisa #JazzCash #CheckoutExperience #EcommercePakistan #DigitalPayments #ConversionRate</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Animate the three taps as a 15-second screen-recording Reel using the same design. LinkedIn reshare with a shorter caption.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16  </a:t>
            </a:r>
            <a:pPr indent="0" marL="0">
              <a:buNone/>
            </a:pPr>
            <a:r>
              <a:rPr lang="en-US" sz="2600" b="1" dirty="0">
                <a:solidFill>
                  <a:srgbClr val="0A1F44"/>
                </a:solidFill>
                <a:latin typeface="Arial" pitchFamily="34" charset="0"/>
                <a:ea typeface="Arial" pitchFamily="34" charset="-122"/>
                <a:cs typeface="Arial" pitchFamily="34" charset="-120"/>
              </a:rPr>
              <a:t>Live in Days, Not Months</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B · Stat Spotlight   ·   LinkedIn + Facebook</a:t>
            </a:r>
            <a:endParaRPr lang="en-US" sz="1200" dirty="0"/>
          </a:p>
        </p:txBody>
      </p:sp>
      <p:pic>
        <p:nvPicPr>
          <p:cNvPr id="4" name="Image 0" descr="/tmp/claude-0/-home-user-Fareed-Zafar/b9dfb78d-425a-55e9-8401-3a5eeab06b9e/scratchpad/mocks/mock-16.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"Payment gateway integration" sounds like a six-month corporate project. It doesn't have to be.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slow part is rarely the technology — it's not knowing the process: which merchant documents you need, how approval works, how to test properly, what to configure and in which order. We've done it enough times that nothing surprises us anymore.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handle the merchant onboarding paperwork alongside you, build the integration, test every edge case, and take you live — in days, not months.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 week without wallet payments is a week of quietly lost orders. Let's start yours now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#PaymentGateway #Easypaisa #JazzCash #EcommercePakistan #FastOnboarding #DigitalPakistan</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Targets owners who want wallets but assume it's painful — addresses the objection head-on. Post 3–4 days after Post 13.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17  </a:t>
            </a:r>
            <a:pPr indent="0" marL="0">
              <a:buNone/>
            </a:pPr>
            <a:r>
              <a:rPr lang="en-US" sz="2600" b="1" dirty="0">
                <a:solidFill>
                  <a:srgbClr val="0A1F44"/>
                </a:solidFill>
                <a:latin typeface="Arial" pitchFamily="34" charset="0"/>
                <a:ea typeface="Arial" pitchFamily="34" charset="-122"/>
                <a:cs typeface="Arial" pitchFamily="34" charset="-120"/>
              </a:rPr>
              <a:t>Seamless Checkout Checklist</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1200×1200   ·   Template E · Checklist   ·   LinkedIn + Instagram</a:t>
            </a:r>
            <a:endParaRPr lang="en-US" sz="1200" dirty="0"/>
          </a:p>
        </p:txBody>
      </p:sp>
      <p:pic>
        <p:nvPicPr>
          <p:cNvPr id="4" name="Image 0" descr="/tmp/claude-0/-home-user-Fareed-Zafar/b9dfb78d-425a-55e9-8401-3a5eeab06b9e/scratchpad/mocks/mock-17.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Abandoned carts aren't a mystery. Walk through your own checkout on your phone tonight and count the obstacles.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 extra field, every forced account, every "we only accept bank transfer" is a paying customer you already convinced — lost at the last metre. Checkout is where marketing money either becomes revenue or evaporates.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This is our six-point standard for every store we build or upgrade. Screenshot it and audit yourself — or send us your store link and we'll do it for you, free.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#CheckoutOptimization #Easypaisa #JazzCash #EcommercePakistan #AbandonedCart #ConversionRate</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The self-audit mechanic drives saves; the free-audit offer drives DMs. Schedule between Posts 15 and 18.</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18  </a:t>
            </a:r>
            <a:pPr indent="0" marL="0">
              <a:buNone/>
            </a:pPr>
            <a:r>
              <a:rPr lang="en-US" sz="2600" b="1" dirty="0">
                <a:solidFill>
                  <a:srgbClr val="0A1F44"/>
                </a:solidFill>
                <a:latin typeface="Arial" pitchFamily="34" charset="0"/>
                <a:ea typeface="Arial" pitchFamily="34" charset="-122"/>
                <a:cs typeface="Arial" pitchFamily="34" charset="-120"/>
              </a:rPr>
              <a:t>Checkout, Before &amp; After</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F · Split Panel   ·   Instagram + Facebook</a:t>
            </a:r>
            <a:endParaRPr lang="en-US" sz="1200" dirty="0"/>
          </a:p>
        </p:txBody>
      </p:sp>
      <p:pic>
        <p:nvPicPr>
          <p:cNvPr id="4" name="Image 0" descr="/tmp/claude-0/-home-user-Fareed-Zafar/b9dfb78d-425a-55e9-8401-3a5eeab06b9e/scratchpad/mocks/mock-18.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Same products. Same prices. Same traffic. One change at checkout.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When customers see payment options they already use daily, hesitation disappears. When they see "bank transfer only" — or nothing but COD — doubt walks in, and doubt doesn't buy.</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Wallet integration isn't a technical upgrade. It's a trust upgrade at the exact moment trust matters most: when someone is holding their money out to you.</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Ready for your own before-and-after? We'll integrate Easypaisa and JazzCash into your store in days. Free consultation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#BeforeAndAfter #Easypaisa #JazzCash #EcommercePakistan #DigitalPayments #OnlineStorePakistan</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Before/after stops the scroll. Pillar closer — retarget engagers of Posts 13–17 with it.</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148840"/>
            <a:ext cx="10058400" cy="365760"/>
          </a:xfrm>
          <a:prstGeom prst="rect">
            <a:avLst/>
          </a:prstGeom>
          <a:noFill/>
          <a:ln/>
        </p:spPr>
        <p:txBody>
          <a:bodyPr wrap="square" lIns="0" tIns="0" rIns="0" bIns="0" rtlCol="0" anchor="ctr"/>
          <a:lstStyle/>
          <a:p>
            <a:pPr indent="0" marL="0">
              <a:buNone/>
            </a:pPr>
            <a:r>
              <a:rPr lang="en-US" sz="1500" b="1" spc="300" kern="0" dirty="0">
                <a:solidFill>
                  <a:srgbClr val="00B3A4"/>
                </a:solidFill>
                <a:latin typeface="Calibri" pitchFamily="34" charset="0"/>
                <a:ea typeface="Calibri" pitchFamily="34" charset="-122"/>
                <a:cs typeface="Calibri" pitchFamily="34" charset="-120"/>
              </a:rPr>
              <a:t>PILLAR 4  ·  POSTS 19–24</a:t>
            </a:r>
            <a:endParaRPr lang="en-US" sz="1500" dirty="0"/>
          </a:p>
        </p:txBody>
      </p:sp>
      <p:sp>
        <p:nvSpPr>
          <p:cNvPr id="3" name="Text 1"/>
          <p:cNvSpPr/>
          <p:nvPr/>
        </p:nvSpPr>
        <p:spPr>
          <a:xfrm>
            <a:off x="822960" y="2606040"/>
            <a:ext cx="1042416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Customer Success Stories</a:t>
            </a:r>
            <a:endParaRPr lang="en-US" sz="4800" dirty="0"/>
          </a:p>
        </p:txBody>
      </p:sp>
      <p:sp>
        <p:nvSpPr>
          <p:cNvPr id="4" name="Text 2"/>
          <p:cNvSpPr/>
          <p:nvPr/>
        </p:nvSpPr>
        <p:spPr>
          <a:xfrm>
            <a:off x="822960" y="3794760"/>
            <a:ext cx="8961120" cy="1005840"/>
          </a:xfrm>
          <a:prstGeom prst="rect">
            <a:avLst/>
          </a:prstGeom>
          <a:noFill/>
          <a:ln/>
        </p:spPr>
        <p:txBody>
          <a:bodyPr wrap="square" lIns="0" tIns="0" rIns="0" bIns="0" rtlCol="0" anchor="ctr"/>
          <a:lstStyle/>
          <a:p>
            <a:pPr indent="0" marL="0">
              <a:lnSpc>
                <a:spcPct val="120000"/>
              </a:lnSpc>
              <a:buNone/>
            </a:pPr>
            <a:r>
              <a:rPr lang="en-US" sz="1550" dirty="0">
                <a:solidFill>
                  <a:srgbClr val="D8E2F0"/>
                </a:solidFill>
                <a:latin typeface="Calibri" pitchFamily="34" charset="0"/>
                <a:ea typeface="Calibri" pitchFamily="34" charset="-122"/>
                <a:cs typeface="Calibri" pitchFamily="34" charset="-120"/>
              </a:rPr>
              <a:t>Three client stories, each told twice: a quote card for the emotional beat, a case-study carousel for the results beat.</a:t>
            </a:r>
            <a:endParaRPr lang="en-US" sz="15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19  </a:t>
            </a:r>
            <a:pPr indent="0" marL="0">
              <a:buNone/>
            </a:pPr>
            <a:r>
              <a:rPr lang="en-US" sz="2600" b="1" dirty="0">
                <a:solidFill>
                  <a:srgbClr val="0A1F44"/>
                </a:solidFill>
                <a:latin typeface="Arial" pitchFamily="34" charset="0"/>
                <a:ea typeface="Arial" pitchFamily="34" charset="-122"/>
                <a:cs typeface="Arial" pitchFamily="34" charset="-120"/>
              </a:rPr>
              <a:t>Testimonial: The Store That Left the DMs</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D · Testimonial Card   ·   Instagram + Facebook</a:t>
            </a:r>
            <a:endParaRPr lang="en-US" sz="1200" dirty="0"/>
          </a:p>
        </p:txBody>
      </p:sp>
      <p:pic>
        <p:nvPicPr>
          <p:cNvPr id="4" name="Image 0" descr="/tmp/claude-0/-home-user-Fareed-Zafar/b9dfb78d-425a-55e9-8401-3a5eeab06b9e/scratchpad/mocks/mock-19.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From "DM to order" to a store that never sleeps.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When [Client Name] came to us, [Fashion Retail Brand] was thriving on Instagram — and drowning in it. Every order meant manual messages, payment screenshots, and address confusion.</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built them a custom MERN-stack store with Easypaisa and JazzCash checkout. Now customers browse, pay, and order on their own — and the team spends those hours growing the brand instead of managing chats.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Your business might be one website away from getting its evenings back. Let's talk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#CustomerSuccess #EcommercePakistan #WebDevelopment #Easypaisa #SmallBusinessPakistan #ClientStory</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Publish early in the pillar; testimonials perform best after a week of value-first posts. Bracketed client fields: fill with permission or run anonymized.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20  </a:t>
            </a:r>
            <a:pPr indent="0" marL="0">
              <a:buNone/>
            </a:pPr>
            <a:r>
              <a:rPr lang="en-US" sz="2600" b="1" dirty="0">
                <a:solidFill>
                  <a:srgbClr val="0A1F44"/>
                </a:solidFill>
                <a:latin typeface="Arial" pitchFamily="34" charset="0"/>
                <a:ea typeface="Arial" pitchFamily="34" charset="-122"/>
                <a:cs typeface="Arial" pitchFamily="34" charset="-120"/>
              </a:rPr>
              <a:t>Case Study: [Fashion Retail Brand]</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5 slides   ·   Template C · Carousel   ·   LinkedIn + Instagram</a:t>
            </a:r>
            <a:endParaRPr lang="en-US" sz="1200" dirty="0"/>
          </a:p>
        </p:txBody>
      </p:sp>
      <p:pic>
        <p:nvPicPr>
          <p:cNvPr id="4" name="Image 0" descr="/tmp/claude-0/-home-user-Fareed-Zafar/b9dfb78d-425a-55e9-8401-3a5eeab06b9e/scratchpad/mocks/mock-20.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Case study: what actually changed when [Fashion Retail Brand] stopped selling through DMs. 🧵 Swipe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challenge: a great product buried under manual order-taking. The build: a custom store with local wallet checkout. The result: [X]% more monthly orders, [X] hours a week back, and a growing share of prepaid payments that ended their COD return problem.</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No magic — just the right foundation, built once, built properly.</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If your growth is trapped in your inbox, we should talk. Free consultation,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#CaseStudy #EcommercePakistan #WebDevelopment #Easypaisa #JazzCash #BusinessGrowth</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Post 3–4 days after Post 19 so the quote primes the case study. Fill [X] metrics only with client-approved numbers. Slides: cover → challenge → build → result → CTA.</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21  </a:t>
            </a:r>
            <a:pPr indent="0" marL="0">
              <a:buNone/>
            </a:pPr>
            <a:r>
              <a:rPr lang="en-US" sz="2600" b="1" dirty="0">
                <a:solidFill>
                  <a:srgbClr val="0A1F44"/>
                </a:solidFill>
                <a:latin typeface="Arial" pitchFamily="34" charset="0"/>
                <a:ea typeface="Arial" pitchFamily="34" charset="-122"/>
                <a:cs typeface="Arial" pitchFamily="34" charset="-120"/>
              </a:rPr>
              <a:t>Testimonial: Found on Page One</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D · Testimonial Card   ·   LinkedIn (reshare to Facebook)</a:t>
            </a:r>
            <a:endParaRPr lang="en-US" sz="1200" dirty="0"/>
          </a:p>
        </p:txBody>
      </p:sp>
      <p:pic>
        <p:nvPicPr>
          <p:cNvPr id="4" name="Image 0" descr="/tmp/claude-0/-home-user-Fareed-Zafar/b9dfb78d-425a-55e9-8401-3a5eeab06b9e/scratchpad/mocks/mock-21.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"Customers couldn't find us." Now they can't miss them.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[Services Company] had years of experience and a strong reputation — offline. Online, they were on page 4 of Google, which is the same as nowhere.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 structured SEO and content program — real keyword research, monthly content their customers actually search for, and technical fixes under the hood — moved them onto page one for the searches that matter. Today, search is their biggest source of new enquiries, and it costs them nothing per click.</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Being great at what you do isn't enough if no one can find you. Let's make you findable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#CustomerSuccess #SEO #ContentStrategy #DigitalPakistan #PakistanBusiness #ClientStory</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B2B services story resonates on LinkedIn. Pair within the same week as an SEO pillar post.</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22  </a:t>
            </a:r>
            <a:pPr indent="0" marL="0">
              <a:buNone/>
            </a:pPr>
            <a:r>
              <a:rPr lang="en-US" sz="2600" b="1" dirty="0">
                <a:solidFill>
                  <a:srgbClr val="0A1F44"/>
                </a:solidFill>
                <a:latin typeface="Arial" pitchFamily="34" charset="0"/>
                <a:ea typeface="Arial" pitchFamily="34" charset="-122"/>
                <a:cs typeface="Arial" pitchFamily="34" charset="-120"/>
              </a:rPr>
              <a:t>Case Study: [Services Company]</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5 slides   ·   Template C · Carousel   ·   LinkedIn</a:t>
            </a:r>
            <a:endParaRPr lang="en-US" sz="1200" dirty="0"/>
          </a:p>
        </p:txBody>
      </p:sp>
      <p:pic>
        <p:nvPicPr>
          <p:cNvPr id="4" name="Image 0" descr="/tmp/claude-0/-home-user-Fareed-Zafar/b9dfb78d-425a-55e9-8401-3a5eeab06b9e/scratchpad/mocks/mock-22.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Case study: how [Services Company] went from invisible to unmissable on Google. Swipe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No tricks, no shortcuts — a disciplined monthly rhythm of content, optimization, and technical fixes. That's what modern SEO is: compounding work that turns into rankings competitors can't easily take back.</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[X] months in, organic search became their single biggest enquiry channel. It still is.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Want to know how far you are from page 1? The audit is free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#CaseStudy #SEO #ContentStrategy #DigitalPakistan #BusinessGrowth #PakistanBusiness</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Excellent retargeting creative for anyone who engaged with Posts 7–12. Slides: cover → challenge → strategy → result → CTA.</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23  </a:t>
            </a:r>
            <a:pPr indent="0" marL="0">
              <a:buNone/>
            </a:pPr>
            <a:r>
              <a:rPr lang="en-US" sz="2600" b="1" dirty="0">
                <a:solidFill>
                  <a:srgbClr val="0A1F44"/>
                </a:solidFill>
                <a:latin typeface="Arial" pitchFamily="34" charset="0"/>
                <a:ea typeface="Arial" pitchFamily="34" charset="-122"/>
                <a:cs typeface="Arial" pitchFamily="34" charset="-120"/>
              </a:rPr>
              <a:t>Testimonial: The Growth Partner</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D · Testimonial Card   ·   LinkedIn + Instagram</a:t>
            </a:r>
            <a:endParaRPr lang="en-US" sz="1200" dirty="0"/>
          </a:p>
        </p:txBody>
      </p:sp>
      <p:pic>
        <p:nvPicPr>
          <p:cNvPr id="4" name="Image 0" descr="/tmp/claude-0/-home-user-Fareed-Zafar/b9dfb78d-425a-55e9-8401-3a5eeab06b9e/scratchpad/mocks/mock-23.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best compliment we get isn't about code. It's this: "They feel like part of our team."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[Home &amp; Living Brand] came to us for a website. What they got was a growth engine: a fast custom store, an SEO program that brings buyers in, and wallet payments that let those buyers pay in seconds. Each piece makes the others work harder — that's the point of having one partner instead of three vendors.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 measure our success in your growth, not in deliverables shipped.</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Looking for a partner, not a supplier? That's the only way we work.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#CustomerSuccess #GrowthPartner #EcommercePakistan #WebDevelopment #SEO #JazzCash</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The "all three services" proof point — schedule just before the CTA pillar begins, as the bridge into conversion content.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24  </a:t>
            </a:r>
            <a:pPr indent="0" marL="0">
              <a:buNone/>
            </a:pPr>
            <a:r>
              <a:rPr lang="en-US" sz="2600" b="1" dirty="0">
                <a:solidFill>
                  <a:srgbClr val="0A1F44"/>
                </a:solidFill>
                <a:latin typeface="Arial" pitchFamily="34" charset="0"/>
                <a:ea typeface="Arial" pitchFamily="34" charset="-122"/>
                <a:cs typeface="Arial" pitchFamily="34" charset="-120"/>
              </a:rPr>
              <a:t>Wall of Love</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Template D · Multi-quote   ·   All platforms</a:t>
            </a:r>
            <a:endParaRPr lang="en-US" sz="1200" dirty="0"/>
          </a:p>
        </p:txBody>
      </p:sp>
      <p:pic>
        <p:nvPicPr>
          <p:cNvPr id="4" name="Image 0" descr="/tmp/claude-0/-home-user-Fareed-Zafar/b9dfb78d-425a-55e9-8401-3a5eeab06b9e/scratchpad/mocks/mock-24.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Three businesses. Three different challenges. One thing in common: they stopped renting their growth and started owning it.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 fashion brand that escaped its DMs. A services firm that conquered page one. A home brand running store, search, and payments as one engine.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 one of these started the same way — with a free consultation and an honest conversation about goals.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Yours can start today. Link in bio.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#Testimonials #CustomerSuccess #EcommercePakistan #DigitalPakistan #BusinessGrowth #WallOfLove</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Pillar finale — pin to profile, and reuse as the primary retargeting creative for warm audiences across the whole campaign.</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2148840"/>
            <a:ext cx="10058400" cy="365760"/>
          </a:xfrm>
          <a:prstGeom prst="rect">
            <a:avLst/>
          </a:prstGeom>
          <a:noFill/>
          <a:ln/>
        </p:spPr>
        <p:txBody>
          <a:bodyPr wrap="square" lIns="0" tIns="0" rIns="0" bIns="0" rtlCol="0" anchor="ctr"/>
          <a:lstStyle/>
          <a:p>
            <a:pPr indent="0" marL="0">
              <a:buNone/>
            </a:pPr>
            <a:r>
              <a:rPr lang="en-US" sz="1500" b="1" spc="300" kern="0" dirty="0">
                <a:solidFill>
                  <a:srgbClr val="00B3A4"/>
                </a:solidFill>
                <a:latin typeface="Calibri" pitchFamily="34" charset="0"/>
                <a:ea typeface="Calibri" pitchFamily="34" charset="-122"/>
                <a:cs typeface="Calibri" pitchFamily="34" charset="-120"/>
              </a:rPr>
              <a:t>PILLAR 5  ·  POSTS 25–30</a:t>
            </a:r>
            <a:endParaRPr lang="en-US" sz="1500" dirty="0"/>
          </a:p>
        </p:txBody>
      </p:sp>
      <p:sp>
        <p:nvSpPr>
          <p:cNvPr id="3" name="Text 1"/>
          <p:cNvSpPr/>
          <p:nvPr/>
        </p:nvSpPr>
        <p:spPr>
          <a:xfrm>
            <a:off x="822960" y="2606040"/>
            <a:ext cx="1042416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Call-to-Action Posts</a:t>
            </a:r>
            <a:endParaRPr lang="en-US" sz="4800" dirty="0"/>
          </a:p>
        </p:txBody>
      </p:sp>
      <p:sp>
        <p:nvSpPr>
          <p:cNvPr id="4" name="Text 2"/>
          <p:cNvSpPr/>
          <p:nvPr/>
        </p:nvSpPr>
        <p:spPr>
          <a:xfrm>
            <a:off x="822960" y="3794760"/>
            <a:ext cx="8961120" cy="1005840"/>
          </a:xfrm>
          <a:prstGeom prst="rect">
            <a:avLst/>
          </a:prstGeom>
          <a:noFill/>
          <a:ln/>
        </p:spPr>
        <p:txBody>
          <a:bodyPr wrap="square" lIns="0" tIns="0" rIns="0" bIns="0" rtlCol="0" anchor="ctr"/>
          <a:lstStyle/>
          <a:p>
            <a:pPr indent="0" marL="0">
              <a:lnSpc>
                <a:spcPct val="120000"/>
              </a:lnSpc>
              <a:buNone/>
            </a:pPr>
            <a:r>
              <a:rPr lang="en-US" sz="1550" dirty="0">
                <a:solidFill>
                  <a:srgbClr val="D8E2F0"/>
                </a:solidFill>
                <a:latin typeface="Calibri" pitchFamily="34" charset="0"/>
                <a:ea typeface="Calibri" pitchFamily="34" charset="-122"/>
                <a:cs typeface="Calibri" pitchFamily="34" charset="-120"/>
              </a:rPr>
              <a:t>Direct conversion: consultations, audits, seasonal urgency, engagement hooks, and a warm founder close.</a:t>
            </a:r>
            <a:endParaRPr lang="en-US" sz="1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25  </a:t>
            </a:r>
            <a:pPr indent="0" marL="0">
              <a:buNone/>
            </a:pPr>
            <a:r>
              <a:rPr lang="en-US" sz="2600" b="1" dirty="0">
                <a:solidFill>
                  <a:srgbClr val="0A1F44"/>
                </a:solidFill>
                <a:latin typeface="Arial" pitchFamily="34" charset="0"/>
                <a:ea typeface="Arial" pitchFamily="34" charset="-122"/>
                <a:cs typeface="Arial" pitchFamily="34" charset="-120"/>
              </a:rPr>
              <a:t>The Free Consultation</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H · CTA Banner   ·   All platforms</a:t>
            </a:r>
            <a:endParaRPr lang="en-US" sz="1200" dirty="0"/>
          </a:p>
        </p:txBody>
      </p:sp>
      <p:pic>
        <p:nvPicPr>
          <p:cNvPr id="4" name="Image 0" descr="/tmp/claude-0/-home-user-Fareed-Zafar/b9dfb78d-425a-55e9-8401-3a5eeab06b9e/scratchpad/mocks/mock-25.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most useful 30 minutes you'll spend on your business this month — and it costs nothing.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In one free consultation call, we'll look at your current online presence together and tell you honestly: what's working, what's leaking customers, and what we'd fix first. You leave with a clear roadmap either way — no obligation, no pressure, no jargon.</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Why free? Because every client we have started with this exact conversation. Good partnerships begin with honest advice, not sales scripts.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Slots are limited each week. Book yours at the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#FreeConsultation #DigitalPakistan #BusinessGrowth #WebDevelopment #SEO #PakistanBusiness</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The campaign's core conversion post. Run organically first, then as the primary ad creative to warm audiences. Repost monthly with rotated headlines.</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26  </a:t>
            </a:r>
            <a:pPr indent="0" marL="0">
              <a:buNone/>
            </a:pPr>
            <a:r>
              <a:rPr lang="en-US" sz="2600" b="1" dirty="0">
                <a:solidFill>
                  <a:srgbClr val="0A1F44"/>
                </a:solidFill>
                <a:latin typeface="Arial" pitchFamily="34" charset="0"/>
                <a:ea typeface="Arial" pitchFamily="34" charset="-122"/>
                <a:cs typeface="Arial" pitchFamily="34" charset="-120"/>
              </a:rPr>
              <a:t>The Free Website &amp; SEO Audit</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Template H · CTA Banner (light)   ·   Facebook + Instagram (+ LinkedIn)</a:t>
            </a:r>
            <a:endParaRPr lang="en-US" sz="1200" dirty="0"/>
          </a:p>
        </p:txBody>
      </p:sp>
      <p:pic>
        <p:nvPicPr>
          <p:cNvPr id="4" name="Image 0" descr="/tmp/claude-0/-home-user-Fareed-Zafar/b9dfb78d-425a-55e9-8401-3a5eeab06b9e/scratchpad/mocks/mock-26.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Your website might be quietly losing customers right now. Slow pages. Invisible on Google. A checkout that makes people give up. You'd never know — visitors don't file complaints, they just leave.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Our free audit checks the four places money leaks out of a website: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Speed — do visitors wait or bounce?</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Visibility — can Google find and rank you?</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Security — would customers trust your checkout?</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Conversion — how many obstacles before payment?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You get a plain-language scorecard and the three fixes we'd make first. Free, no strings — comment "AUDIT" or hit the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#FreeAudit #WebsiteAudit #SEO #EcommercePakistan #DigitalPakistan #SmallBusinessPakistan</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Comment-trigger works hard on FB/IG; the LinkedIn version swaps the comment hook for the link. Great lead-gen ad for cold audiences.</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27  </a:t>
            </a:r>
            <a:pPr indent="0" marL="0">
              <a:buNone/>
            </a:pPr>
            <a:r>
              <a:rPr lang="en-US" sz="2600" b="1" dirty="0">
                <a:solidFill>
                  <a:srgbClr val="0A1F44"/>
                </a:solidFill>
                <a:latin typeface="Arial" pitchFamily="34" charset="0"/>
                <a:ea typeface="Arial" pitchFamily="34" charset="-122"/>
                <a:cs typeface="Arial" pitchFamily="34" charset="-120"/>
              </a:rPr>
              <a:t>Ready for the Rush?</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Template A · Urgency   ·   Instagram + Facebook</a:t>
            </a:r>
            <a:endParaRPr lang="en-US" sz="1200" dirty="0"/>
          </a:p>
        </p:txBody>
      </p:sp>
      <p:pic>
        <p:nvPicPr>
          <p:cNvPr id="4" name="Image 0" descr="/tmp/claude-0/-home-user-Fareed-Zafar/b9dfb78d-425a-55e9-8401-3a5eeab06b9e/scratchpad/mocks/mock-27.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 November, the same two stories.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Store A prepared: fast pages under heavy traffic, wallet payments flowing, orders auto-confirmed. Their best month ever.</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Store B "planned to fix things later": crashed on 11.11 morning, checkout failures all weekend, refund chaos into December.</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The difference wasn't luck — it was starting in August. Right now is exactly when smart stores get their speed, scale, and Easypaisa/JazzCash checkout battle-tested for the busiest quarter of the year.</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Sale season rewards the prepared. Which store will you be? Book a readiness call —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#SaleSeason #1111Sale #BlackFriday #EcommercePakistan #Easypaisa #JazzCash #BusinessGrowth</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Publish August–September; re-run with updated countdown copy in October. Strong boost candidate to e-commerce owner audiences.</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28  </a:t>
            </a:r>
            <a:pPr indent="0" marL="0">
              <a:buNone/>
            </a:pPr>
            <a:r>
              <a:rPr lang="en-US" sz="2600" b="1" dirty="0">
                <a:solidFill>
                  <a:srgbClr val="0A1F44"/>
                </a:solidFill>
                <a:latin typeface="Arial" pitchFamily="34" charset="0"/>
                <a:ea typeface="Arial" pitchFamily="34" charset="-122"/>
                <a:cs typeface="Arial" pitchFamily="34" charset="-120"/>
              </a:rPr>
              <a:t>Comment “GROW”</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1080×1080   ·   Minimal engagement hook   ·   Instagram + Facebook only</a:t>
            </a:r>
            <a:endParaRPr lang="en-US" sz="1200" dirty="0"/>
          </a:p>
        </p:txBody>
      </p:sp>
      <p:pic>
        <p:nvPicPr>
          <p:cNvPr id="4" name="Image 0" descr="/tmp/claude-0/-home-user-Fareed-Zafar/b9dfb78d-425a-55e9-8401-3a5eeab06b9e/scratchpad/mocks/mock-28.jpg">    </p:cNvPr>
          <p:cNvPicPr>
            <a:picLocks noChangeAspect="1"/>
          </p:cNvPicPr>
          <p:nvPr/>
        </p:nvPicPr>
        <p:blipFill>
          <a:blip r:embed="rId1"/>
          <a:stretch>
            <a:fillRect/>
          </a:stretch>
        </p:blipFill>
        <p:spPr>
          <a:xfrm>
            <a:off x="548640" y="1371600"/>
            <a:ext cx="4572000" cy="457200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5577840" y="1371600"/>
            <a:ext cx="6062472"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5577840" y="1682496"/>
            <a:ext cx="6062472"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No long caption today. Just a gift.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We've condensed everything we check before launching any client's website into one practical checklist: "10 Things Every Pakistani Business Website Needs in 2026." Speed, Google visibility, wallet payments, security, mobile experience — with simple yes/no checks you can run yourself.</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Comment "GROW" and we'll DM it to you, free.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(And if your site fails more than three checks — you know where to find us.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#FreeResource #Checklist #DigitalPakistan #EcommercePakistan #SmallBusinessPakistan #GrowOnline</a:t>
            </a:r>
            <a:endParaRPr lang="en-US" sz="1100" dirty="0"/>
          </a:p>
        </p:txBody>
      </p:sp>
      <p:sp>
        <p:nvSpPr>
          <p:cNvPr id="7" name="Text 4"/>
          <p:cNvSpPr/>
          <p:nvPr/>
        </p:nvSpPr>
        <p:spPr>
          <a:xfrm>
            <a:off x="5577840" y="5596128"/>
            <a:ext cx="6062472"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5577840" y="5870448"/>
            <a:ext cx="6062472"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Comment-to-DM mechanic. Reply to every "GROW" within hours. Requires the 10-point checklist PDF lead magnet to exist before posting.</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29  </a:t>
            </a:r>
            <a:pPr indent="0" marL="0">
              <a:buNone/>
            </a:pPr>
            <a:r>
              <a:rPr lang="en-US" sz="2600" b="1" dirty="0">
                <a:solidFill>
                  <a:srgbClr val="0A1F44"/>
                </a:solidFill>
                <a:latin typeface="Arial" pitchFamily="34" charset="0"/>
                <a:ea typeface="Arial" pitchFamily="34" charset="-122"/>
                <a:cs typeface="Arial" pitchFamily="34" charset="-120"/>
              </a:rPr>
              <a:t>Three Services, One Partner</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4 slides   ·   Template C · Carousel   ·   All platforms — pin everywhere</a:t>
            </a:r>
            <a:endParaRPr lang="en-US" sz="1200" dirty="0"/>
          </a:p>
        </p:txBody>
      </p:sp>
      <p:pic>
        <p:nvPicPr>
          <p:cNvPr id="4" name="Image 0" descr="/tmp/claude-0/-home-user-Fareed-Zafar/b9dfb78d-425a-55e9-8401-3a5eeab06b9e/scratchpad/mocks/mock-29.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 website nobody finds is a brochure. Traffic that can't pay you is a statistic.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Online growth only works when the whole engine runs together:</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BUILD — a fast, secure custom store on the MERN stack</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BE FOUND — SEO &amp; content that bring in ready-to-buy searchers</a:t>
            </a: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GET PAID — Easypaisa &amp; JazzCash checkout that converts them</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Most agencies sell you one piece. We build the engine — and stay to help you drive it. That's what a growth partner means.</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Start where every client starts: a free consultation.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#GrowthPartner #WebDevelopment #SEO #Easypaisa #JazzCash #EcommercePakistan #DigitalPakistan</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The definitive "what we do" post. Pin to the top of every profile. Ideal first ad for cold audiences before retargeting with pillar content. Slides: cover → BUILD → BE FOUND → GET PAID/CTA.</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155680" cy="502920"/>
          </a:xfrm>
          <a:prstGeom prst="rect">
            <a:avLst/>
          </a:prstGeom>
          <a:noFill/>
          <a:ln/>
        </p:spPr>
        <p:txBody>
          <a:bodyPr wrap="square" lIns="0" tIns="0" rIns="0" bIns="0" rtlCol="0" anchor="ctr"/>
          <a:lstStyle/>
          <a:p>
            <a:pPr indent="0" marL="0">
              <a:buNone/>
            </a:pPr>
            <a:r>
              <a:rPr lang="en-US" sz="2600" b="1" dirty="0">
                <a:solidFill>
                  <a:srgbClr val="03897E"/>
                </a:solidFill>
                <a:latin typeface="Arial" pitchFamily="34" charset="0"/>
                <a:ea typeface="Arial" pitchFamily="34" charset="-122"/>
                <a:cs typeface="Arial" pitchFamily="34" charset="-120"/>
              </a:rPr>
              <a:t>30  </a:t>
            </a:r>
            <a:pPr indent="0" marL="0">
              <a:buNone/>
            </a:pPr>
            <a:r>
              <a:rPr lang="en-US" sz="2600" b="1" dirty="0">
                <a:solidFill>
                  <a:srgbClr val="0A1F44"/>
                </a:solidFill>
                <a:latin typeface="Arial" pitchFamily="34" charset="0"/>
                <a:ea typeface="Arial" pitchFamily="34" charset="-122"/>
                <a:cs typeface="Arial" pitchFamily="34" charset="-120"/>
              </a:rPr>
              <a:t>Why We Built ShopEase</a:t>
            </a:r>
            <a:endParaRPr lang="en-US" sz="2600" dirty="0"/>
          </a:p>
        </p:txBody>
      </p:sp>
      <p:sp>
        <p:nvSpPr>
          <p:cNvPr id="3" name="Text 1"/>
          <p:cNvSpPr/>
          <p:nvPr/>
        </p:nvSpPr>
        <p:spPr>
          <a:xfrm>
            <a:off x="548640" y="914400"/>
            <a:ext cx="11155680" cy="320040"/>
          </a:xfrm>
          <a:prstGeom prst="rect">
            <a:avLst/>
          </a:prstGeom>
          <a:noFill/>
          <a:ln/>
        </p:spPr>
        <p:txBody>
          <a:bodyPr wrap="square" lIns="0" tIns="0" rIns="0" bIns="0" rtlCol="0" anchor="ctr"/>
          <a:lstStyle/>
          <a:p>
            <a:pPr indent="0" marL="0">
              <a:buNone/>
            </a:pPr>
            <a:r>
              <a:rPr lang="en-US" sz="1200" dirty="0">
                <a:solidFill>
                  <a:srgbClr val="5A6B85"/>
                </a:solidFill>
                <a:latin typeface="Calibri" pitchFamily="34" charset="0"/>
                <a:ea typeface="Calibri" pitchFamily="34" charset="-122"/>
                <a:cs typeface="Calibri" pitchFamily="34" charset="-120"/>
              </a:rPr>
              <a:t>1080×1350   ·   Template G · Photo-led   ·   LinkedIn — founder profile first</a:t>
            </a:r>
            <a:endParaRPr lang="en-US" sz="1200" dirty="0"/>
          </a:p>
        </p:txBody>
      </p:sp>
      <p:pic>
        <p:nvPicPr>
          <p:cNvPr id="4" name="Image 0" descr="/tmp/claude-0/-home-user-Fareed-Zafar/b9dfb78d-425a-55e9-8401-3a5eeab06b9e/scratchpad/mocks/mock-30.jpg">    </p:cNvPr>
          <p:cNvPicPr>
            <a:picLocks noChangeAspect="1"/>
          </p:cNvPicPr>
          <p:nvPr/>
        </p:nvPicPr>
        <p:blipFill>
          <a:blip r:embed="rId1"/>
          <a:stretch>
            <a:fillRect/>
          </a:stretch>
        </p:blipFill>
        <p:spPr>
          <a:xfrm>
            <a:off x="548640" y="1371600"/>
            <a:ext cx="3950208" cy="4937760"/>
          </a:xfrm>
          <a:prstGeom prst="rect">
            <a:avLst/>
          </a:prstGeom>
          <a:effectLst>
            <a:outerShdw sx="100000" sy="100000" kx="0" ky="0" algn="bl" rotWithShape="0" blurRad="127000" dist="38100" dir="5400000">
              <a:srgbClr val="0A1F44">
                <a:alpha val="25000"/>
              </a:srgbClr>
            </a:outerShdw>
          </a:effectLst>
        </p:spPr>
      </p:pic>
      <p:sp>
        <p:nvSpPr>
          <p:cNvPr id="5" name="Text 2"/>
          <p:cNvSpPr/>
          <p:nvPr/>
        </p:nvSpPr>
        <p:spPr>
          <a:xfrm>
            <a:off x="4956048" y="1371600"/>
            <a:ext cx="6684264" cy="274320"/>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CAPTION</a:t>
            </a:r>
            <a:endParaRPr lang="en-US" sz="1050" dirty="0"/>
          </a:p>
        </p:txBody>
      </p:sp>
      <p:sp>
        <p:nvSpPr>
          <p:cNvPr id="6" name="Text 3"/>
          <p:cNvSpPr/>
          <p:nvPr/>
        </p:nvSpPr>
        <p:spPr>
          <a:xfrm>
            <a:off x="4956048" y="1682496"/>
            <a:ext cx="6684264" cy="3749040"/>
          </a:xfrm>
          <a:prstGeom prst="rect">
            <a:avLst/>
          </a:prstGeom>
          <a:noFill/>
          <a:ln/>
        </p:spPr>
        <p:txBody>
          <a:bodyPr wrap="square" lIns="0" tIns="0" rIns="0" bIns="0" rtlCol="0" anchor="t">
            <a:normAutofit/>
          </a:bodyPr>
          <a:lstStyle/>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A personal note, from our founder. 💚</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"Everywhere I looked, I saw brilliant Pakistani businesses — incredible products, loyal customers, real hustle — losing online to competitors with worse products and better websites. Slow sites. Invisible on Google. Checkouts that couldn't take an Easypaisa payment in a country that runs on it.</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That gap felt unfair. So we built ShopEase to close it: world-class web development, honest SEO, and payments that work the way Pakistan actually pays — delivered like a partner, not a vendor.</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Every client's growth chart is why we do this. If you're building something, we'd love to build with you."</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 [Founder Name], Founder, ShopEase</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Start the conversation: link in bio.</a:t>
            </a:r>
            <a:endParaRPr lang="en-US" sz="1100" dirty="0"/>
          </a:p>
          <a:p>
            <a:pPr indent="0" marL="0">
              <a:lnSpc>
                <a:spcPct val="112000"/>
              </a:lnSpc>
              <a:buNone/>
            </a:pPr>
            <a:endParaRPr lang="en-US" sz="1100" dirty="0"/>
          </a:p>
          <a:p>
            <a:pPr indent="0" marL="0">
              <a:lnSpc>
                <a:spcPct val="112000"/>
              </a:lnSpc>
              <a:buNone/>
            </a:pPr>
            <a:r>
              <a:rPr lang="en-US" sz="1100" dirty="0">
                <a:solidFill>
                  <a:srgbClr val="22314E"/>
                </a:solidFill>
                <a:latin typeface="Calibri" pitchFamily="34" charset="0"/>
                <a:ea typeface="Calibri" pitchFamily="34" charset="-122"/>
                <a:cs typeface="Calibri" pitchFamily="34" charset="-120"/>
              </a:rPr>
              <a:t>#FounderStory #ShopEase #DigitalPakistan #PakistanStartups #SmallBusinessPakistan #GrowthPartner</a:t>
            </a:r>
            <a:endParaRPr lang="en-US" sz="1100" dirty="0"/>
          </a:p>
        </p:txBody>
      </p:sp>
      <p:sp>
        <p:nvSpPr>
          <p:cNvPr id="7" name="Text 4"/>
          <p:cNvSpPr/>
          <p:nvPr/>
        </p:nvSpPr>
        <p:spPr>
          <a:xfrm>
            <a:off x="4956048" y="5596128"/>
            <a:ext cx="6684264" cy="256032"/>
          </a:xfrm>
          <a:prstGeom prst="rect">
            <a:avLst/>
          </a:prstGeom>
          <a:noFill/>
          <a:ln/>
        </p:spPr>
        <p:txBody>
          <a:bodyPr wrap="square" lIns="0" tIns="0" rIns="0" bIns="0" rtlCol="0" anchor="ctr"/>
          <a:lstStyle/>
          <a:p>
            <a:pPr indent="0" marL="0">
              <a:buNone/>
            </a:pPr>
            <a:r>
              <a:rPr lang="en-US" sz="1050" b="1" spc="250" kern="0" dirty="0">
                <a:solidFill>
                  <a:srgbClr val="03897E"/>
                </a:solidFill>
                <a:latin typeface="Calibri" pitchFamily="34" charset="0"/>
                <a:ea typeface="Calibri" pitchFamily="34" charset="-122"/>
                <a:cs typeface="Calibri" pitchFamily="34" charset="-120"/>
              </a:rPr>
              <a:t>POSTING CONTEXT</a:t>
            </a:r>
            <a:endParaRPr lang="en-US" sz="1050" dirty="0"/>
          </a:p>
        </p:txBody>
      </p:sp>
      <p:sp>
        <p:nvSpPr>
          <p:cNvPr id="8" name="Text 5"/>
          <p:cNvSpPr/>
          <p:nvPr/>
        </p:nvSpPr>
        <p:spPr>
          <a:xfrm>
            <a:off x="4956048" y="5870448"/>
            <a:ext cx="6684264" cy="777240"/>
          </a:xfrm>
          <a:prstGeom prst="rect">
            <a:avLst/>
          </a:prstGeom>
          <a:noFill/>
          <a:ln/>
        </p:spPr>
        <p:txBody>
          <a:bodyPr wrap="square" lIns="0" tIns="0" rIns="0" bIns="0" rtlCol="0" anchor="t">
            <a:normAutofit/>
          </a:bodyPr>
          <a:lstStyle/>
          <a:p>
            <a:pPr indent="0" marL="0">
              <a:buNone/>
            </a:pPr>
            <a:r>
              <a:rPr lang="en-US" sz="1050" i="1" dirty="0">
                <a:solidFill>
                  <a:srgbClr val="5A6B85"/>
                </a:solidFill>
                <a:latin typeface="Calibri" pitchFamily="34" charset="0"/>
                <a:ea typeface="Calibri" pitchFamily="34" charset="-122"/>
                <a:cs typeface="Calibri" pitchFamily="34" charset="-120"/>
              </a:rPr>
              <a:t>Founder-voice posts outperform brand posts on LinkedIn — publish from the founder's personal profile, reshare from the page. Campaign closer. Needs founder name, photo, and approval.</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22960" y="1051560"/>
            <a:ext cx="1042416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Before you publish</a:t>
            </a:r>
            <a:endParaRPr lang="en-US" sz="4000" dirty="0"/>
          </a:p>
        </p:txBody>
      </p:sp>
      <p:sp>
        <p:nvSpPr>
          <p:cNvPr id="3" name="Text 1"/>
          <p:cNvSpPr/>
          <p:nvPr/>
        </p:nvSpPr>
        <p:spPr>
          <a:xfrm>
            <a:off x="822960" y="2011680"/>
            <a:ext cx="10241280" cy="292608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E6EDF7"/>
                </a:solidFill>
                <a:latin typeface="Calibri" pitchFamily="34" charset="0"/>
                <a:ea typeface="Calibri" pitchFamily="34" charset="-122"/>
                <a:cs typeface="Calibri" pitchFamily="34" charset="-120"/>
              </a:rPr>
              <a:t>Fill the [bracketed] client names and [X] metrics in Posts 19–24 — or run the quotes anonymized. Metrics only with client-approved numbers.</a:t>
            </a:r>
            <a:endParaRPr lang="en-US" sz="1500" dirty="0"/>
          </a:p>
          <a:p>
            <a:pPr marL="342900" indent="-342900">
              <a:spcAft>
                <a:spcPts val="1200"/>
              </a:spcAft>
              <a:buSzPct val="100000"/>
              <a:buChar char="✓"/>
            </a:pPr>
            <a:r>
              <a:rPr lang="en-US" sz="1500" dirty="0">
                <a:solidFill>
                  <a:srgbClr val="E6EDF7"/>
                </a:solidFill>
                <a:latin typeface="Calibri" pitchFamily="34" charset="0"/>
                <a:ea typeface="Calibri" pitchFamily="34" charset="-122"/>
                <a:cs typeface="Calibri" pitchFamily="34" charset="-120"/>
              </a:rPr>
              <a:t>Add the founder's name, photo, and sign-off for Post 30.</a:t>
            </a:r>
            <a:endParaRPr lang="en-US" sz="1500" dirty="0"/>
          </a:p>
          <a:p>
            <a:pPr marL="342900" indent="-342900">
              <a:spcAft>
                <a:spcPts val="1200"/>
              </a:spcAft>
              <a:buSzPct val="100000"/>
              <a:buChar char="✓"/>
            </a:pPr>
            <a:r>
              <a:rPr lang="en-US" sz="1500" dirty="0">
                <a:solidFill>
                  <a:srgbClr val="E6EDF7"/>
                </a:solidFill>
                <a:latin typeface="Calibri" pitchFamily="34" charset="0"/>
                <a:ea typeface="Calibri" pitchFamily="34" charset="-122"/>
                <a:cs typeface="Calibri" pitchFamily="34" charset="-120"/>
              </a:rPr>
              <a:t>Produce the “10 Things Every Pakistani Business Website Needs in 2026” checklist PDF before running Post 28.</a:t>
            </a:r>
            <a:endParaRPr lang="en-US" sz="1500" dirty="0"/>
          </a:p>
          <a:p>
            <a:pPr marL="342900" indent="-342900">
              <a:spcAft>
                <a:spcPts val="1200"/>
              </a:spcAft>
              <a:buSzPct val="100000"/>
              <a:buChar char="✓"/>
            </a:pPr>
            <a:r>
              <a:rPr lang="en-US" sz="1500" dirty="0">
                <a:solidFill>
                  <a:srgbClr val="E6EDF7"/>
                </a:solidFill>
                <a:latin typeface="Calibri" pitchFamily="34" charset="0"/>
                <a:ea typeface="Calibri" pitchFamily="34" charset="-122"/>
                <a:cs typeface="Calibri" pitchFamily="34" charset="-120"/>
              </a:rPr>
              <a:t>Re-verify the third-party stats in Posts 3 and 9 (Google/SOASTA, BrightEdge).</a:t>
            </a:r>
            <a:endParaRPr lang="en-US" sz="1500" dirty="0"/>
          </a:p>
          <a:p>
            <a:pPr marL="342900" indent="-342900">
              <a:spcAft>
                <a:spcPts val="1200"/>
              </a:spcAft>
              <a:buSzPct val="100000"/>
              <a:buChar char="✓"/>
            </a:pPr>
            <a:r>
              <a:rPr lang="en-US" sz="1500" dirty="0">
                <a:solidFill>
                  <a:srgbClr val="E6EDF7"/>
                </a:solidFill>
                <a:latin typeface="Calibri" pitchFamily="34" charset="0"/>
                <a:ea typeface="Calibri" pitchFamily="34" charset="-122"/>
                <a:cs typeface="Calibri" pitchFamily="34" charset="-120"/>
              </a:rPr>
              <a:t>Match final artwork to the live logo and colors on shopeasepay.com and fb.com/Shopeasepay.</a:t>
            </a:r>
            <a:endParaRPr lang="en-US" sz="1500" dirty="0"/>
          </a:p>
        </p:txBody>
      </p:sp>
      <p:sp>
        <p:nvSpPr>
          <p:cNvPr id="4" name="Text 2"/>
          <p:cNvSpPr/>
          <p:nvPr/>
        </p:nvSpPr>
        <p:spPr>
          <a:xfrm>
            <a:off x="822960" y="5989320"/>
            <a:ext cx="10607040"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Full specs &amp; source:  </a:t>
            </a:r>
            <a:pPr indent="0" marL="0">
              <a:buNone/>
            </a:pPr>
            <a:r>
              <a:rPr lang="en-US" sz="1300" dirty="0">
                <a:solidFill>
                  <a:srgbClr val="9FD9D2"/>
                </a:solidFill>
                <a:latin typeface="Calibri" pitchFamily="34" charset="0"/>
                <a:ea typeface="Calibri" pitchFamily="34" charset="-122"/>
                <a:cs typeface="Calibri" pitchFamily="34" charset="-120"/>
              </a:rPr>
              <a:t>marketing/shopease-social-posts/   ·   shopeasepay.com   ·   fb.com/Shopeasepay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ShopEase 30-Post Social Campaign</dc:title>
  <dc:subject>PptxGenJS Presentation</dc:subject>
  <dc:creator>ShopEase</dc:creator>
  <cp:lastModifiedBy>ShopEase</cp:lastModifiedBy>
  <cp:revision>1</cp:revision>
  <dcterms:created xsi:type="dcterms:W3CDTF">2026-08-12T18:43:09Z</dcterms:created>
  <dcterms:modified xsi:type="dcterms:W3CDTF">2026-08-12T18:43:09Z</dcterms:modified>
</cp:coreProperties>
</file>